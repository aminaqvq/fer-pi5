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7.jpg" ContentType="image/jpe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14.jpg" ContentType="image/jpeg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260" r:id="rId4"/>
    <p:sldId id="261" r:id="rId5"/>
    <p:sldId id="262" r:id="rId6"/>
    <p:sldId id="264" r:id="rId7"/>
    <p:sldId id="266" r:id="rId8"/>
  </p:sldIdLst>
  <p:sldSz cx="12192000" cy="6858000"/>
  <p:notesSz cx="6858000" cy="12192000"/>
  <p:embeddedFontLst>
    <p:embeddedFont>
      <p:font typeface="MiSans" panose="02010600030101010101" charset="-122"/>
      <p:regular r:id="rId10"/>
    </p:embeddedFont>
    <p:embeddedFont>
      <p:font typeface="等线" panose="02010600030101010101" pitchFamily="2" charset="-122"/>
      <p:regular r:id="rId11"/>
      <p:bold r:id="rId12"/>
    </p:embeddedFont>
    <p:embeddedFont>
      <p:font typeface="微软雅黑" panose="020B0503020204020204" pitchFamily="34" charset="-122"/>
      <p:regular r:id="rId13"/>
      <p:bold r:id="rId1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320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jpeg"/><Relationship Id="rId5" Type="http://schemas.openxmlformats.org/officeDocument/2006/relationships/image" Target="../media/image7.jp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02-d3l4r3gs8jdo4os5eojg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20" y="0"/>
            <a:ext cx="1217168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654935" y="2001520"/>
            <a:ext cx="7230826" cy="15678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>
              <a:lnSpc>
                <a:spcPct val="110000"/>
              </a:lnSpc>
            </a:pPr>
            <a:r>
              <a:rPr lang="zh-CN" alt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</a:t>
            </a:r>
            <a:r>
              <a:rPr lang="en-US" altLang="zh-CN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CNN</a:t>
            </a:r>
            <a:r>
              <a:rPr lang="zh-CN" alt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altLang="zh-CN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YuNet</a:t>
            </a:r>
            <a:r>
              <a:rPr lang="zh-CN" altLang="en-US" sz="4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的人脸表情识别系统设计与实现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3263900" y="4902835"/>
            <a:ext cx="2446655" cy="4025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汇报人：张吉鹏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026785" y="4901565"/>
            <a:ext cx="3530600" cy="4025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汇报时间：2026/04/17</a:t>
            </a:r>
            <a:endParaRPr lang="en-US" sz="1600" dirty="0"/>
          </a:p>
        </p:txBody>
      </p:sp>
      <p:pic>
        <p:nvPicPr>
          <p:cNvPr id="6" name="Image 1" descr="https://kimi-img.moonshot.cn/pub/slides/slides_tmpl/image/25-10-11-20:28:59-d3l4r2os8jdo4os5eoj0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72310" y="2001520"/>
            <a:ext cx="19050" cy="15144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00258" y="3569335"/>
            <a:ext cx="5885503" cy="5994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r">
              <a:lnSpc>
                <a:spcPct val="100000"/>
              </a:lnSpc>
            </a:pP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1800" b="1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本科毕业设计中期检查汇</a:t>
            </a:r>
            <a:r>
              <a:rPr lang="en-US" sz="18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1652263" y="631492"/>
            <a:ext cx="5094033" cy="7976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30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r>
              <a:rPr lang="en-US" sz="300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天津中德应用技术大学</a:t>
            </a:r>
            <a:endParaRPr lang="en-US" sz="1600" dirty="0"/>
          </a:p>
        </p:txBody>
      </p:sp>
      <p:pic>
        <p:nvPicPr>
          <p:cNvPr id="9" name="Image 2" descr="https://kimi-img.moonshot.cn/pub/slides/26-04-15-23:05:51-d7fqijtkjflupbogdpq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773" y="458884"/>
            <a:ext cx="970252" cy="970252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415" y="637540"/>
            <a:ext cx="5702935" cy="6065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课题概述与系统总体方案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069080" y="1803511"/>
            <a:ext cx="8121015" cy="487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研究目标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9080" y="2351516"/>
            <a:ext cx="7653564" cy="7071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面向端侧实时人脸表情识别场景，构建“视频采集</a:t>
            </a:r>
            <a:r>
              <a:rPr lang="en-US" altLang="zh-CN" sz="1600" dirty="0"/>
              <a:t>—</a:t>
            </a:r>
            <a:r>
              <a:rPr lang="zh-CN" altLang="en-US" sz="1600" dirty="0"/>
              <a:t>人脸检测</a:t>
            </a:r>
            <a:r>
              <a:rPr lang="en-US" altLang="zh-CN" sz="1600" dirty="0"/>
              <a:t>—</a:t>
            </a:r>
            <a:r>
              <a:rPr lang="zh-CN" altLang="en-US" sz="1600" dirty="0"/>
              <a:t>表情识别</a:t>
            </a:r>
            <a:r>
              <a:rPr lang="en-US" altLang="zh-CN" sz="1600" dirty="0"/>
              <a:t>—</a:t>
            </a:r>
            <a:r>
              <a:rPr lang="zh-CN" altLang="en-US" sz="1600" dirty="0"/>
              <a:t>结果显示”的完整闭环，在保证识别精度的同时兼顾模型轻量化与树莓派部署需求。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070985" y="4018765"/>
            <a:ext cx="8121015" cy="487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技术路线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070985" y="4566770"/>
            <a:ext cx="7654199" cy="70718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en-US" sz="1600" dirty="0"/>
              <a:t>采用 </a:t>
            </a:r>
            <a:r>
              <a:rPr lang="en-US" altLang="zh-CN" sz="1600" dirty="0"/>
              <a:t>YuNet </a:t>
            </a:r>
            <a:r>
              <a:rPr lang="zh-CN" altLang="en-US" sz="1600" dirty="0"/>
              <a:t>完成人脸检测，采用 </a:t>
            </a:r>
            <a:r>
              <a:rPr lang="en-US" altLang="zh-CN" sz="1600" dirty="0"/>
              <a:t>MobileNetV3-Large </a:t>
            </a:r>
            <a:r>
              <a:rPr lang="zh-CN" altLang="en-US" sz="1600" dirty="0"/>
              <a:t>完成表情分类，并将训练模型转换为 </a:t>
            </a:r>
            <a:r>
              <a:rPr lang="en-US" altLang="zh-CN" sz="1600" dirty="0" err="1"/>
              <a:t>TFLite</a:t>
            </a:r>
            <a:r>
              <a:rPr lang="en-US" altLang="zh-CN" sz="1600" dirty="0"/>
              <a:t> </a:t>
            </a:r>
            <a:r>
              <a:rPr lang="zh-CN" altLang="en-US" sz="1600" dirty="0"/>
              <a:t>格式部署至树莓派</a:t>
            </a:r>
            <a:r>
              <a:rPr lang="en-US" altLang="zh-CN" sz="1600" dirty="0"/>
              <a:t>5</a:t>
            </a:r>
            <a:r>
              <a:rPr lang="zh-CN" altLang="en-US" sz="1600" dirty="0"/>
              <a:t>平台，实现端侧实时推理。</a:t>
            </a: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D1ECE3-6846-07BE-677C-4CA2690672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64" y="1469571"/>
            <a:ext cx="3322865" cy="4750889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365865" y="180059"/>
            <a:ext cx="4566276" cy="11793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30000"/>
              </a:lnSpc>
            </a:pPr>
            <a:r>
              <a:rPr lang="en-US" sz="2400" b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已完成工作：模型构建与训练</a:t>
            </a:r>
            <a:endParaRPr lang="en-US" sz="1600" dirty="0"/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ECC0AA82-FEAE-275D-876B-16543D9A0F89}"/>
              </a:ext>
            </a:extLst>
          </p:cNvPr>
          <p:cNvGrpSpPr/>
          <p:nvPr/>
        </p:nvGrpSpPr>
        <p:grpSpPr>
          <a:xfrm>
            <a:off x="4512779" y="1359450"/>
            <a:ext cx="3166442" cy="3180366"/>
            <a:chOff x="3504233" y="2322812"/>
            <a:chExt cx="3166442" cy="3180366"/>
          </a:xfrm>
        </p:grpSpPr>
        <p:pic>
          <p:nvPicPr>
            <p:cNvPr id="5" name="Image 2" descr="https://kimi-img.moonshot.cn/pub/slides/slides_tmpl/image/25-10-11-20:29:42-d3l4rdgs8jdo4os5eot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504233" y="2322812"/>
              <a:ext cx="3166442" cy="3180366"/>
            </a:xfrm>
            <a:prstGeom prst="rect">
              <a:avLst/>
            </a:prstGeom>
          </p:spPr>
        </p:pic>
        <p:sp>
          <p:nvSpPr>
            <p:cNvPr id="9" name="Text 3"/>
            <p:cNvSpPr/>
            <p:nvPr/>
          </p:nvSpPr>
          <p:spPr>
            <a:xfrm>
              <a:off x="4197045" y="2453033"/>
              <a:ext cx="1805851" cy="422873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训练策略优化</a:t>
              </a:r>
              <a:endParaRPr lang="en-US" sz="1600" dirty="0"/>
            </a:p>
          </p:txBody>
        </p:sp>
        <p:sp>
          <p:nvSpPr>
            <p:cNvPr id="10" name="Text 4"/>
            <p:cNvSpPr/>
            <p:nvPr/>
          </p:nvSpPr>
          <p:spPr>
            <a:xfrm>
              <a:off x="3845045" y="3429000"/>
              <a:ext cx="2484817" cy="135126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采用数据增强、类别平衡与半监督伪标签机制，提升模型泛化性能与少数类识别能力。</a:t>
              </a:r>
              <a:endParaRPr lang="en-US" sz="1600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2C87DB2-2469-2977-CBC5-65F7BE011DD0}"/>
              </a:ext>
            </a:extLst>
          </p:cNvPr>
          <p:cNvGrpSpPr/>
          <p:nvPr/>
        </p:nvGrpSpPr>
        <p:grpSpPr>
          <a:xfrm>
            <a:off x="8659693" y="1359449"/>
            <a:ext cx="3166442" cy="3180365"/>
            <a:chOff x="6792263" y="2322812"/>
            <a:chExt cx="3166442" cy="3180366"/>
          </a:xfrm>
        </p:grpSpPr>
        <p:pic>
          <p:nvPicPr>
            <p:cNvPr id="6" name="Image 3" descr="https://kimi-img.moonshot.cn/pub/slides/slides_tmpl/image/25-10-11-20:29:42-d3l4rdgs8jdo4os5eot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792263" y="2322812"/>
              <a:ext cx="3166442" cy="3180366"/>
            </a:xfrm>
            <a:prstGeom prst="rect">
              <a:avLst/>
            </a:prstGeom>
          </p:spPr>
        </p:pic>
        <p:sp>
          <p:nvSpPr>
            <p:cNvPr id="11" name="Text 5"/>
            <p:cNvSpPr/>
            <p:nvPr/>
          </p:nvSpPr>
          <p:spPr>
            <a:xfrm>
              <a:off x="7593377" y="2396774"/>
              <a:ext cx="1643803" cy="422873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模型结构确定</a:t>
              </a:r>
              <a:endParaRPr lang="en-US" sz="1600" dirty="0"/>
            </a:p>
          </p:txBody>
        </p:sp>
        <p:sp>
          <p:nvSpPr>
            <p:cNvPr id="12" name="Text 6"/>
            <p:cNvSpPr/>
            <p:nvPr/>
          </p:nvSpPr>
          <p:spPr>
            <a:xfrm>
              <a:off x="6832058" y="3429444"/>
              <a:ext cx="3086852" cy="1028102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采用 </a:t>
              </a:r>
              <a:r>
                <a:rPr lang="en-US" altLang="zh-CN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YuNet </a:t>
              </a: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进行人脸检测，采用 </a:t>
              </a:r>
              <a:r>
                <a:rPr lang="en-US" altLang="zh-CN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MobileNetV3-Large </a:t>
              </a: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进行表情分类，实现轻量化端侧识别方案。</a:t>
              </a:r>
              <a:endParaRPr lang="en-US" sz="16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EDFEE086-7345-356B-2E09-B93EA39565A4}"/>
              </a:ext>
            </a:extLst>
          </p:cNvPr>
          <p:cNvGrpSpPr/>
          <p:nvPr/>
        </p:nvGrpSpPr>
        <p:grpSpPr>
          <a:xfrm>
            <a:off x="365865" y="1359449"/>
            <a:ext cx="3382645" cy="3180367"/>
            <a:chOff x="-1" y="2322811"/>
            <a:chExt cx="3382645" cy="3180367"/>
          </a:xfrm>
        </p:grpSpPr>
        <p:pic>
          <p:nvPicPr>
            <p:cNvPr id="16" name="Image 1" descr="https://kimi-img.moonshot.cn/pub/slides/slides_tmpl/image/25-10-11-20:29:42-d3l4rdgs8jdo4os5eot0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1" y="2322811"/>
              <a:ext cx="3382645" cy="3180367"/>
            </a:xfrm>
            <a:prstGeom prst="rect">
              <a:avLst/>
            </a:prstGeom>
          </p:spPr>
        </p:pic>
        <p:sp>
          <p:nvSpPr>
            <p:cNvPr id="17" name="Text 1"/>
            <p:cNvSpPr/>
            <p:nvPr/>
          </p:nvSpPr>
          <p:spPr>
            <a:xfrm>
              <a:off x="904046" y="2396774"/>
              <a:ext cx="1574551" cy="422873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sz="1800" b="1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数据集构建</a:t>
              </a:r>
              <a:endParaRPr lang="en-US" sz="1600" dirty="0"/>
            </a:p>
          </p:txBody>
        </p:sp>
        <p:sp>
          <p:nvSpPr>
            <p:cNvPr id="18" name="Text 2"/>
            <p:cNvSpPr/>
            <p:nvPr/>
          </p:nvSpPr>
          <p:spPr>
            <a:xfrm>
              <a:off x="608043" y="3429444"/>
              <a:ext cx="2166553" cy="135126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t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以 </a:t>
              </a:r>
              <a:r>
                <a:rPr lang="en-US" altLang="zh-CN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FER2013 </a:t>
              </a: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为基础，扩展亚裔表情样本，形成约 </a:t>
              </a:r>
              <a:r>
                <a:rPr lang="en-US" altLang="zh-CN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40.9 </a:t>
              </a: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万张数据规模，覆盖 </a:t>
              </a:r>
              <a:r>
                <a:rPr lang="en-US" altLang="zh-CN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7 </a:t>
              </a:r>
              <a:r>
                <a:rPr lang="zh-CN" altLang="en-US" sz="1400" dirty="0">
                  <a:solidFill>
                    <a:srgbClr val="000000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类表情。</a:t>
              </a:r>
              <a:endParaRPr lang="en-US" sz="1600" dirty="0"/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003EE232-A55A-E2DE-BB9B-55442DEEB4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9891" y="4613779"/>
            <a:ext cx="2874587" cy="216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CC47E000-A7A1-7232-C27F-C19AA90076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8516" y="4727941"/>
            <a:ext cx="4320000" cy="195000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8D06BEA-7CD8-7D65-780A-392788387D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82361" y="4727941"/>
            <a:ext cx="2400693" cy="1980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980" y="492125"/>
            <a:ext cx="5193665" cy="646271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4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已完成工作：实验结果与性能分析</a:t>
            </a:r>
            <a:endParaRPr lang="en-US" sz="1600" dirty="0"/>
          </a:p>
        </p:txBody>
      </p:sp>
      <p:pic>
        <p:nvPicPr>
          <p:cNvPr id="3" name="Image 0" descr="https://kimi-img.moonshot.cn/pub/slides/slides_tmpl/image/25-10-11-20:29:41-d3l4rd8s8jdo4os5eorg.jpeg"/>
          <p:cNvPicPr>
            <a:picLocks noChangeAspect="1"/>
          </p:cNvPicPr>
          <p:nvPr/>
        </p:nvPicPr>
        <p:blipFill>
          <a:blip r:embed="rId4"/>
          <a:srcRect t="45534" b="45534"/>
          <a:stretch/>
        </p:blipFill>
        <p:spPr>
          <a:xfrm>
            <a:off x="0" y="6301740"/>
            <a:ext cx="12191365" cy="556895"/>
          </a:xfrm>
          <a:prstGeom prst="rect">
            <a:avLst/>
          </a:prstGeom>
        </p:spPr>
      </p:pic>
      <p:pic>
        <p:nvPicPr>
          <p:cNvPr id="4" name="Image 1" descr="https://kimi-img.moonshot.cn/pub/slides/slides_tmpl/image/25-10-11-20:29:41-d3l4rd8s8jdo4os5eorg.jpeg"/>
          <p:cNvPicPr>
            <a:picLocks noChangeAspect="1"/>
          </p:cNvPicPr>
          <p:nvPr/>
        </p:nvPicPr>
        <p:blipFill>
          <a:blip r:embed="rId4"/>
          <a:srcRect t="48384" b="48384"/>
          <a:stretch/>
        </p:blipFill>
        <p:spPr>
          <a:xfrm flipV="1">
            <a:off x="5866130" y="772795"/>
            <a:ext cx="5795645" cy="95885"/>
          </a:xfrm>
          <a:prstGeom prst="rect">
            <a:avLst/>
          </a:prstGeom>
        </p:spPr>
      </p:pic>
      <p:sp>
        <p:nvSpPr>
          <p:cNvPr id="8" name="Text 1"/>
          <p:cNvSpPr/>
          <p:nvPr/>
        </p:nvSpPr>
        <p:spPr>
          <a:xfrm>
            <a:off x="1947726" y="1460663"/>
            <a:ext cx="2073910" cy="4228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实验结果</a:t>
            </a:r>
            <a:endParaRPr lang="en-US" sz="1600" dirty="0"/>
          </a:p>
        </p:txBody>
      </p:sp>
      <p:sp>
        <p:nvSpPr>
          <p:cNvPr id="10" name="Text 3"/>
          <p:cNvSpPr/>
          <p:nvPr/>
        </p:nvSpPr>
        <p:spPr>
          <a:xfrm>
            <a:off x="8170364" y="1451750"/>
            <a:ext cx="2073910" cy="42287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ctr">
              <a:lnSpc>
                <a:spcPct val="130000"/>
              </a:lnSpc>
            </a:pPr>
            <a:r>
              <a:rPr lang="zh-CN" altLang="en-US" sz="18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结果分析</a:t>
            </a:r>
            <a:endParaRPr lang="en-US" sz="1600" dirty="0"/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EDECAD87-C8F5-E631-06E7-4BBD443D8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374" y="1896460"/>
            <a:ext cx="55707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验证集准确率达到 90.55%，宏平均 F1 为 87.32%；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测试集准确率达到 90.77%，宏平均 F1 为 87.43%。 </a:t>
            </a:r>
          </a:p>
        </p:txBody>
      </p:sp>
      <p:sp>
        <p:nvSpPr>
          <p:cNvPr id="23" name="Rectangle 2">
            <a:extLst>
              <a:ext uri="{FF2B5EF4-FFF2-40B4-BE49-F238E27FC236}">
                <a16:creationId xmlns:a16="http://schemas.microsoft.com/office/drawing/2014/main" id="{D8FCD6E6-EC8F-E971-810E-EB4C592144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5682" y="1900384"/>
            <a:ext cx="616688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从混淆矩阵可见，高兴、中性、惊讶等类别识别效果较好；厌恶、恐惧、悲伤类别之间仍存在一定混淆。 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D691576F-DC52-37BA-3F78-ACBC1AA3D0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681" y="2632584"/>
            <a:ext cx="4320000" cy="3535865"/>
          </a:xfrm>
          <a:prstGeom prst="rect">
            <a:avLst/>
          </a:prstGeom>
        </p:spPr>
      </p:pic>
      <p:pic>
        <p:nvPicPr>
          <p:cNvPr id="27" name="图片 26">
            <a:extLst>
              <a:ext uri="{FF2B5EF4-FFF2-40B4-BE49-F238E27FC236}">
                <a16:creationId xmlns:a16="http://schemas.microsoft.com/office/drawing/2014/main" id="{939AFE03-3338-E736-9184-E16B1C5E53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7319" y="2621443"/>
            <a:ext cx="4320000" cy="3547006"/>
          </a:xfrm>
          <a:prstGeom prst="rect">
            <a:avLst/>
          </a:prstGeom>
        </p:spPr>
      </p:pic>
      <p:sp>
        <p:nvSpPr>
          <p:cNvPr id="29" name="文本框 28">
            <a:extLst>
              <a:ext uri="{FF2B5EF4-FFF2-40B4-BE49-F238E27FC236}">
                <a16:creationId xmlns:a16="http://schemas.microsoft.com/office/drawing/2014/main" id="{C4CE1F16-53B8-269F-4F41-5491D2D4FC49}"/>
              </a:ext>
            </a:extLst>
          </p:cNvPr>
          <p:cNvSpPr txBox="1"/>
          <p:nvPr/>
        </p:nvSpPr>
        <p:spPr>
          <a:xfrm>
            <a:off x="3015089" y="6404655"/>
            <a:ext cx="61640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dirty="0"/>
              <a:t>0-angry, 1-disgust, 2-fear, 3-happy, 4-sad, 5-surprise, 6-neutral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380" y="1115060"/>
            <a:ext cx="3488055" cy="282012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64820" y="269875"/>
            <a:ext cx="3497580" cy="14941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已完成工作：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系统实现与树莓派部署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1480" y="1115060"/>
            <a:ext cx="3488055" cy="282012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733925" y="1264920"/>
            <a:ext cx="2716530" cy="99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部署实现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708525" y="2408555"/>
            <a:ext cx="2925445" cy="3293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4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 </a:t>
            </a:r>
            <a:r>
              <a:rPr lang="en-US" altLang="zh-CN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PyTorch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模型向 </a:t>
            </a:r>
            <a:r>
              <a:rPr lang="en-US" altLang="zh-CN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TFLite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模型的转换，并部署到树莓派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平台，实现摄像头视频流下的实时表情识别。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328025" y="1264920"/>
            <a:ext cx="2716530" cy="9982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性能指标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302625" y="2408555"/>
            <a:ext cx="2925445" cy="3293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4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系统整体帧率约为 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40–60 FPS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YuNet 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检测耗时低于 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 </a:t>
            </a:r>
            <a:r>
              <a:rPr lang="en-US" altLang="zh-CN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，表情分类耗时约 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20–60 </a:t>
            </a:r>
            <a:r>
              <a:rPr lang="en-US" altLang="zh-CN" sz="1600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ms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，满足基本实时应用需求。</a:t>
            </a:r>
            <a:endParaRPr 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BAF1FC38-C4CB-8DCE-67C9-76E855AD28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915" y="2102300"/>
            <a:ext cx="3600000" cy="3600000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59358614-D28B-39F2-99D7-102766B02F91}"/>
              </a:ext>
            </a:extLst>
          </p:cNvPr>
          <p:cNvSpPr txBox="1"/>
          <p:nvPr/>
        </p:nvSpPr>
        <p:spPr>
          <a:xfrm>
            <a:off x="1098596" y="5764320"/>
            <a:ext cx="60946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dirty="0"/>
              <a:t>部署平台：</a:t>
            </a:r>
            <a:r>
              <a:rPr lang="en-US" altLang="zh-CN" dirty="0"/>
              <a:t>Raspberry Pi 5 8GB</a:t>
            </a:r>
          </a:p>
        </p:txBody>
      </p:sp>
      <p:pic>
        <p:nvPicPr>
          <p:cNvPr id="13" name="Image 0" descr="https://kimi-img.moonshot.cn/pub/slides/slides_tmpl/image/25-10-11-20:29:41-d3l4rd8s8jdo4os5eosg.png">
            <a:extLst>
              <a:ext uri="{FF2B5EF4-FFF2-40B4-BE49-F238E27FC236}">
                <a16:creationId xmlns:a16="http://schemas.microsoft.com/office/drawing/2014/main" id="{7F5C5AA1-766E-A6A6-61A7-13052F0B3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7380" y="4080601"/>
            <a:ext cx="7082155" cy="205305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1EEC1F29-C0DF-A117-1274-E404AAE4770E}"/>
              </a:ext>
            </a:extLst>
          </p:cNvPr>
          <p:cNvSpPr txBox="1"/>
          <p:nvPr/>
        </p:nvSpPr>
        <p:spPr>
          <a:xfrm>
            <a:off x="4708525" y="4276129"/>
            <a:ext cx="60946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运行效果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9F47DFD-8C66-D1D4-7EDF-7710923D1E81}"/>
              </a:ext>
            </a:extLst>
          </p:cNvPr>
          <p:cNvSpPr txBox="1"/>
          <p:nvPr/>
        </p:nvSpPr>
        <p:spPr>
          <a:xfrm>
            <a:off x="4708524" y="4881724"/>
            <a:ext cx="6519545" cy="7478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4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系统已实现 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 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类表情的动态检测与可视化输出，</a:t>
            </a:r>
            <a:endParaRPr lang="en-US" altLang="zh-CN" sz="1600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40000"/>
              </a:lnSpc>
              <a:buNone/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能够完成“检测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识别</a:t>
            </a:r>
            <a:r>
              <a:rPr lang="en-US" altLang="zh-CN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—</a:t>
            </a: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显示”的完整闭环。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765" y="822958"/>
            <a:ext cx="3256915" cy="28587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2995" y="261792"/>
            <a:ext cx="5020945" cy="56689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完成情况与当前进度</a:t>
            </a:r>
            <a:endParaRPr lang="en-US" sz="1600" dirty="0"/>
          </a:p>
        </p:txBody>
      </p:sp>
      <p:pic>
        <p:nvPicPr>
          <p:cNvPr id="4" name="Image 1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3740" y="822959"/>
            <a:ext cx="3256915" cy="2858770"/>
          </a:xfrm>
          <a:prstGeom prst="rect">
            <a:avLst/>
          </a:prstGeom>
        </p:spPr>
      </p:pic>
      <p:pic>
        <p:nvPicPr>
          <p:cNvPr id="5" name="Image 2" descr="https://kimi-img.moonshot.cn/pub/slides/slides_tmpl/image/25-10-11-20:29:41-d3l4rd8s8jdo4os5eos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5615" y="822958"/>
            <a:ext cx="3256915" cy="2858771"/>
          </a:xfrm>
          <a:prstGeom prst="rect">
            <a:avLst/>
          </a:prstGeom>
        </p:spPr>
      </p:pic>
      <p:pic>
        <p:nvPicPr>
          <p:cNvPr id="6" name="Image 3" descr="https://kimi-img.moonshot.cn/pub/slides/slides_tmpl/image/25-10-11-20:29:41-d3l4rd8s8jdo4os5eos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V="1">
            <a:off x="913765" y="6353810"/>
            <a:ext cx="6018530" cy="96520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1019175" y="899158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计划执行</a:t>
            </a:r>
            <a:endParaRPr lang="en-US" sz="1600" dirty="0"/>
          </a:p>
        </p:txBody>
      </p:sp>
      <p:sp>
        <p:nvSpPr>
          <p:cNvPr id="8" name="Text 2"/>
          <p:cNvSpPr/>
          <p:nvPr/>
        </p:nvSpPr>
        <p:spPr>
          <a:xfrm>
            <a:off x="1044892" y="2117991"/>
            <a:ext cx="2994660" cy="7493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原计划基本无调整，整体进度符合中期检查要求。</a:t>
            </a:r>
            <a:endParaRPr lang="en-US" sz="1600" dirty="0"/>
          </a:p>
        </p:txBody>
      </p:sp>
      <p:sp>
        <p:nvSpPr>
          <p:cNvPr id="9" name="Text 3"/>
          <p:cNvSpPr/>
          <p:nvPr/>
        </p:nvSpPr>
        <p:spPr>
          <a:xfrm>
            <a:off x="4629150" y="899158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已完成内容</a:t>
            </a:r>
            <a:endParaRPr lang="en-US" sz="1600" dirty="0"/>
          </a:p>
        </p:txBody>
      </p:sp>
      <p:sp>
        <p:nvSpPr>
          <p:cNvPr id="10" name="Text 4"/>
          <p:cNvSpPr/>
          <p:nvPr/>
        </p:nvSpPr>
        <p:spPr>
          <a:xfrm>
            <a:off x="4598670" y="1773282"/>
            <a:ext cx="2994660" cy="143872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已完成需求分析、系统设计、模型训练、实验验证和部署实现等主体内容，毕业设计初稿已基本完成。</a:t>
            </a:r>
            <a:endParaRPr lang="en-US" sz="1600" dirty="0"/>
          </a:p>
        </p:txBody>
      </p:sp>
      <p:sp>
        <p:nvSpPr>
          <p:cNvPr id="11" name="Text 5"/>
          <p:cNvSpPr/>
          <p:nvPr/>
        </p:nvSpPr>
        <p:spPr>
          <a:xfrm>
            <a:off x="8201025" y="899158"/>
            <a:ext cx="2994660" cy="93789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后续重点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8201025" y="1945638"/>
            <a:ext cx="2994660" cy="109401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40000"/>
              </a:lnSpc>
            </a:pPr>
            <a:r>
              <a:rPr lang="zh-CN" altLang="en-US" sz="16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后续将继续完善结论、附录、格式细节及测试分析，并完成定稿、查重和答辩准备。</a:t>
            </a:r>
            <a:endParaRPr lang="en-US" sz="1600" dirty="0"/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2B1A5D68-F959-0FAE-3704-E5F380968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0072624"/>
              </p:ext>
            </p:extLst>
          </p:nvPr>
        </p:nvGraphicFramePr>
        <p:xfrm>
          <a:off x="913765" y="3750357"/>
          <a:ext cx="10438764" cy="26517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9588">
                  <a:extLst>
                    <a:ext uri="{9D8B030D-6E8A-4147-A177-3AD203B41FA5}">
                      <a16:colId xmlns:a16="http://schemas.microsoft.com/office/drawing/2014/main" val="1277672421"/>
                    </a:ext>
                  </a:extLst>
                </a:gridCol>
                <a:gridCol w="3479588">
                  <a:extLst>
                    <a:ext uri="{9D8B030D-6E8A-4147-A177-3AD203B41FA5}">
                      <a16:colId xmlns:a16="http://schemas.microsoft.com/office/drawing/2014/main" val="811643151"/>
                    </a:ext>
                  </a:extLst>
                </a:gridCol>
                <a:gridCol w="3479588">
                  <a:extLst>
                    <a:ext uri="{9D8B030D-6E8A-4147-A177-3AD203B41FA5}">
                      <a16:colId xmlns:a16="http://schemas.microsoft.com/office/drawing/2014/main" val="3451687867"/>
                    </a:ext>
                  </a:extLst>
                </a:gridCol>
              </a:tblGrid>
              <a:tr h="4648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起止日期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主要内容</a:t>
                      </a:r>
                    </a:p>
                  </a:txBody>
                  <a:tcPr marL="7620" marR="7620" marT="7620" marB="0" anchor="ctr">
                    <a:lnR w="12700" cmpd="sng">
                      <a:noFill/>
                    </a:lnR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a:t>预期结果</a:t>
                      </a:r>
                    </a:p>
                  </a:txBody>
                  <a:tcPr marL="7620" marR="7620" marT="7620" marB="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53702739"/>
                  </a:ext>
                </a:extLst>
              </a:tr>
              <a:tr h="63998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2. 2025.11.18–2025.12.31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b="0" i="0" dirty="0">
                          <a:solidFill>
                            <a:srgbClr val="0F1115"/>
                          </a:solidFill>
                          <a:effectLst/>
                          <a:latin typeface="quote-cjk-patch"/>
                        </a:rPr>
                        <a:t>搭环境、学原理、处理数据。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掌握主要算法与工具使用方法，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完成实验环境搭建与数据集准备工作。</a:t>
                      </a:r>
                    </a:p>
                  </a:txBody>
                  <a:tcPr marL="7620" marR="7620" marT="7620" marB="0" anchor="ctr">
                    <a:lnT w="381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696770730"/>
                  </a:ext>
                </a:extLst>
              </a:tr>
              <a:tr h="4648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3. 2026.01.01–2026.03.01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建模型、调参数、评估性能。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得到性能较为稳定的表情识别模型，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形成阶段性实验结果。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72927364"/>
                  </a:ext>
                </a:extLst>
              </a:tr>
              <a:tr h="4648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4. 2026.03.02–2026.04.10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加人脸检测，实现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端实时识别。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完成 </a:t>
                      </a:r>
                      <a:r>
                        <a:rPr lang="en-US" altLang="zh-CN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PC </a:t>
                      </a: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端端到端系统，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实现基本功能并具备实时识别能力。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13263608"/>
                  </a:ext>
                </a:extLst>
              </a:tr>
              <a:tr h="464866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5. 2026.04.11–2026.05.15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移植树莓派、测试优化、</a:t>
                      </a:r>
                      <a:endParaRPr lang="en-US" altLang="zh-CN" sz="180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写论文初稿。</a:t>
                      </a:r>
                      <a:endParaRPr lang="zh-CN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完成嵌入式部署与性能测试，</a:t>
                      </a:r>
                      <a:endParaRPr lang="en-US" altLang="zh-CN" sz="16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zh-CN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形成较完整的实验数据与初稿。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81508488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alphaModFix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93065" y="201589"/>
            <a:ext cx="5702935" cy="5675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30000"/>
              </a:lnSpc>
            </a:pPr>
            <a:r>
              <a:rPr lang="en-US" sz="2600" b="1" dirty="0" err="1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下一步工作</a:t>
            </a:r>
            <a:r>
              <a:rPr 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&amp;</a:t>
            </a:r>
            <a:r>
              <a:rPr lang="zh-CN" altLang="en-US" sz="26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参考文献</a:t>
            </a:r>
            <a:endParaRPr lang="en-US" altLang="zh-CN" sz="2600" b="1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</p:txBody>
      </p:sp>
      <p:pic>
        <p:nvPicPr>
          <p:cNvPr id="3" name="Image 0" descr="https://kimi-img.moonshot.cn/pub/slides/slides_tmpl/image/25-10-11-20:29:41-d3l4rd8s8jdo4os5eos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645160" y="1705384"/>
            <a:ext cx="3751580" cy="76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55625" y="1037999"/>
            <a:ext cx="3727450" cy="49403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>
              <a:lnSpc>
                <a:spcPct val="160000"/>
              </a:lnSpc>
            </a:pPr>
            <a:r>
              <a:rPr 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后续工作计划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0865" y="1781584"/>
            <a:ext cx="4871720" cy="1814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6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完善结论与展望部分</a:t>
            </a:r>
            <a:endParaRPr lang="en-US" altLang="zh-CN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6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补充附录与程序说明</a:t>
            </a:r>
            <a:endParaRPr lang="en-US" altLang="zh-CN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6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统一毕业设计格式与图表规范</a:t>
            </a:r>
            <a:endParaRPr lang="en-US" altLang="zh-CN" dirty="0">
              <a:solidFill>
                <a:srgbClr val="000000"/>
              </a:solidFill>
              <a:latin typeface="MiSans" pitchFamily="34" charset="0"/>
              <a:ea typeface="MiSans" pitchFamily="34" charset="-122"/>
              <a:cs typeface="MiSans" pitchFamily="34" charset="-120"/>
            </a:endParaRPr>
          </a:p>
          <a:p>
            <a:pPr algn="just">
              <a:lnSpc>
                <a:spcPct val="160000"/>
              </a:lnSpc>
            </a:pPr>
            <a:r>
              <a:rPr lang="zh-CN" altLang="en-US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完成修改定稿、查重检测与答辩准备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734B2C3-AF7C-2AAE-EFED-0E2649BD29A0}"/>
              </a:ext>
            </a:extLst>
          </p:cNvPr>
          <p:cNvSpPr txBox="1"/>
          <p:nvPr/>
        </p:nvSpPr>
        <p:spPr>
          <a:xfrm>
            <a:off x="5442585" y="485353"/>
            <a:ext cx="609600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[4]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李宏毅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深度学习导论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[M].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北京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机械工业出版社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2022.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[5] Goodfellow I J, Erhan D, et al. Challenges in representation learning: A report on three machine learning contests[J]. Neural Networks, 2015, 64: 59-63. 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[6] Howard A, Sandler M, et al. Searching for MobileNetV3[C]//2019 IEEE/CVF International Conference on Computer Vision. Seoul: IEEE, 2019: 1314-1324. 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[7] Wu W, Peng H, et al. YuNet: A Tiny Millisecond-level Face Detector[J]. Machine Intelligence Research, 2023, 20(5): 656-665. 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[8] Zhang K, Zhang Z, et al. Joint Face Detection and Alignment Using Multitask Cascaded Convolutional Networks[J]. IEEE Signal Processing Letters, 2016, 23(10): 1499-1503.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[9]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李军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李明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改进多尺度卷积神经网络的人脸表情识别研究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[J].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重庆邮电大学学报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(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自然科学版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), 2022, 34(2): 201-207.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[10]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刘劲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罗晓曙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等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权重推断与标签平滑的轻量级人脸表情识别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[J].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计算机工程与应用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2024, 60(2): 77-83.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[11] Pascual A M, Valverde E C, et al. Light-FER: A Lightweight Facial Emotion Recognition System on Edge Devices[J]. Sensors, 2022, 22(23): 9524. 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[12]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孙培源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轻量级人脸表情识别神经网络研究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[D].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南京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南京信息工程大学</a:t>
            </a:r>
            <a:r>
              <a:rPr lang="en-US" altLang="zh-CN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, 2025.</a:t>
            </a:r>
            <a:endParaRPr lang="zh-CN" altLang="zh-CN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5A92134-94AD-EFA2-7E9E-856524AE18BA}"/>
              </a:ext>
            </a:extLst>
          </p:cNvPr>
          <p:cNvSpPr txBox="1"/>
          <p:nvPr/>
        </p:nvSpPr>
        <p:spPr>
          <a:xfrm>
            <a:off x="-555812" y="3722288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参考文献</a:t>
            </a:r>
            <a:endParaRPr lang="zh-CN" altLang="en-US" sz="2000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691F993-69B0-5E71-FE03-CEDDE81B6AB2}"/>
              </a:ext>
            </a:extLst>
          </p:cNvPr>
          <p:cNvSpPr txBox="1"/>
          <p:nvPr/>
        </p:nvSpPr>
        <p:spPr>
          <a:xfrm>
            <a:off x="456882" y="4327119"/>
            <a:ext cx="508330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27000">
              <a:lnSpc>
                <a:spcPts val="2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[1] Picard R W. Affective Computing[M]. Cambridge: The MIT Press, 1997. 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[2]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刘洋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基于轻量级网络的人脸表情识别研究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[D].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哈尔滨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哈尔滨工业大学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2023.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[3]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胡敏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胡鹏远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等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基于面部运动单元和时序注意力的视频表情识别方法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[J].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计算机辅助设计与图形学学报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2023, 35(1): 108-117.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27000">
              <a:lnSpc>
                <a:spcPts val="2000"/>
              </a:lnSpc>
              <a:buNone/>
            </a:pP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[4]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李宏毅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深度学习导论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[M].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北京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: </a:t>
            </a:r>
            <a:r>
              <a:rPr lang="zh-CN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机械工业出版社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, 2022.</a:t>
            </a:r>
            <a:endParaRPr lang="zh-CN" altLang="zh-CN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14" name="Image 0" descr="https://kimi-img.moonshot.cn/pub/slides/slides_tmpl/image/25-10-11-20:29:41-d3l4rd8s8jdo4os5eos0.png">
            <a:extLst>
              <a:ext uri="{FF2B5EF4-FFF2-40B4-BE49-F238E27FC236}">
                <a16:creationId xmlns:a16="http://schemas.microsoft.com/office/drawing/2014/main" id="{F8CE344D-6A1C-ADDF-62CE-DDF312DE81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 flipV="1">
            <a:off x="559117" y="4165238"/>
            <a:ext cx="3751580" cy="762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971</Words>
  <Application>Microsoft Office PowerPoint</Application>
  <PresentationFormat>宽屏</PresentationFormat>
  <Paragraphs>88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等线</vt:lpstr>
      <vt:lpstr>MiSans</vt:lpstr>
      <vt:lpstr>宋体</vt:lpstr>
      <vt:lpstr>微软雅黑</vt:lpstr>
      <vt:lpstr>quote-cjk-patch</vt:lpstr>
      <vt:lpstr>Times New Roman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基于CNN与YuNet的人脸表情识别系统——中期检查汇报</dc:title>
  <dc:subject>基于CNN与YuNet的人脸表情识别系统——中期检查汇报</dc:subject>
  <dc:creator>柒墨染</dc:creator>
  <cp:lastModifiedBy>墨 柒</cp:lastModifiedBy>
  <cp:revision>13</cp:revision>
  <dcterms:created xsi:type="dcterms:W3CDTF">2026-04-15T15:09:22Z</dcterms:created>
  <dcterms:modified xsi:type="dcterms:W3CDTF">2026-04-16T05:46:54Z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基于CNN与YuNet的人脸表情识别系统——中期检查汇报","ContentProducer":"001191110108MACG2KBH8F10000","ProduceID":"19d91817-d2b2-8317-8000-000025500e69","ReservedCode1":"","ContentPropagator":"001191110108MACG2KBH8F20000","PropagateID":"19d91817-d2b2-8317-8000-000025500e69","ReservedCode2":""}</vt:lpwstr>
  </property>
</Properties>
</file>