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8" r:id="rId11"/>
  </p:sldIdLst>
  <p:sldSz cx="12192000" cy="6858000"/>
  <p:notesSz cx="6858000" cy="12192000"/>
  <p:embeddedFontLst>
    <p:embeddedFont>
      <p:font typeface="微软雅黑" panose="020B0503020204020204" pitchFamily="34" charset="-122"/>
      <p:regular r:id="rId13"/>
      <p:bold r:id="rId14"/>
    </p:embeddedFont>
    <p:embeddedFont>
      <p:font typeface="MiSans" pitchFamily="50" charset="-122"/>
      <p:regular r:id="rId1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95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1.jpe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05-d3l4r48s8jdo4os5eo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0"/>
            <a:ext cx="1217168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29:15-d3l4r6os8jdo4os5eom0.jpeg"/>
          <p:cNvPicPr>
            <a:picLocks noChangeAspect="1"/>
          </p:cNvPicPr>
          <p:nvPr/>
        </p:nvPicPr>
        <p:blipFill>
          <a:blip r:embed="rId3"/>
          <a:srcRect t="31248" b="31248"/>
          <a:stretch/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29:04-d3l4r40s8jdo4os5eok0.jpeg"/>
          <p:cNvPicPr>
            <a:picLocks noChangeAspect="1"/>
          </p:cNvPicPr>
          <p:nvPr/>
        </p:nvPicPr>
        <p:blipFill>
          <a:blip r:embed="rId5">
            <a:alphaModFix amt="10000"/>
          </a:blip>
          <a:srcRect t="37244" b="24949"/>
          <a:stretch/>
        </p:blipFill>
        <p:spPr>
          <a:xfrm>
            <a:off x="635" y="1621155"/>
            <a:ext cx="12191365" cy="3456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57630" y="3708400"/>
            <a:ext cx="9475470" cy="819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第3章模型与训练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3125" y="2274570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41-d3l4rd8s8jdo4os5eorg.jpeg"/>
          <p:cNvPicPr>
            <a:picLocks noChangeAspect="1"/>
          </p:cNvPicPr>
          <p:nvPr/>
        </p:nvPicPr>
        <p:blipFill>
          <a:blip r:embed="rId4">
            <a:alphaModFix amt="21000"/>
          </a:blip>
          <a:srcRect t="24363" b="24363"/>
          <a:stretch/>
        </p:blipFill>
        <p:spPr>
          <a:xfrm>
            <a:off x="0" y="3662045"/>
            <a:ext cx="12191365" cy="31965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2465" y="413385"/>
            <a:ext cx="5193665" cy="6460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第3章：模型与训练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29:41-d3l4rd8s8jdo4os5eor0.jpg"/>
          <p:cNvPicPr>
            <a:picLocks noChangeAspect="1"/>
          </p:cNvPicPr>
          <p:nvPr/>
        </p:nvPicPr>
        <p:blipFill>
          <a:blip r:embed="rId5"/>
          <a:srcRect t="3723" b="3723"/>
          <a:stretch/>
        </p:blipFill>
        <p:spPr>
          <a:xfrm>
            <a:off x="755650" y="1302385"/>
            <a:ext cx="2456180" cy="151574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29:40-d3l4rd0s8jdo4os5eoqg.jpg"/>
          <p:cNvPicPr>
            <a:picLocks noChangeAspect="1"/>
          </p:cNvPicPr>
          <p:nvPr/>
        </p:nvPicPr>
        <p:blipFill>
          <a:blip r:embed="rId6"/>
          <a:srcRect t="5524" b="5524"/>
          <a:stretch/>
        </p:blipFill>
        <p:spPr>
          <a:xfrm>
            <a:off x="3449320" y="1275080"/>
            <a:ext cx="2552065" cy="1515110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29:53-d3l4rg8s8jdo4os5ep30.jpg"/>
          <p:cNvPicPr>
            <a:picLocks noChangeAspect="1"/>
          </p:cNvPicPr>
          <p:nvPr/>
        </p:nvPicPr>
        <p:blipFill>
          <a:blip r:embed="rId7"/>
          <a:srcRect t="5486" b="5486"/>
          <a:stretch/>
        </p:blipFill>
        <p:spPr>
          <a:xfrm>
            <a:off x="6175375" y="1287145"/>
            <a:ext cx="2552065" cy="151511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10-11-20:29:24-d3l4r90s8jdo4os5eon0.jpg"/>
          <p:cNvPicPr>
            <a:picLocks noChangeAspect="1"/>
          </p:cNvPicPr>
          <p:nvPr/>
        </p:nvPicPr>
        <p:blipFill>
          <a:blip r:embed="rId8"/>
          <a:srcRect t="5474" b="5474"/>
          <a:stretch/>
        </p:blipFill>
        <p:spPr>
          <a:xfrm>
            <a:off x="8963660" y="1275080"/>
            <a:ext cx="2552065" cy="1515110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672465" y="2858135"/>
            <a:ext cx="2634615" cy="4478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数据与预处理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3423920" y="2858135"/>
            <a:ext cx="2634615" cy="4478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模型结构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6175375" y="2851785"/>
            <a:ext cx="2634615" cy="4478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Stage1监督训练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8926830" y="2851785"/>
            <a:ext cx="2634615" cy="4478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伪标签与Stage2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05-d3l4r48s8jdo4os5eo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0"/>
            <a:ext cx="1217168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29:15-d3l4r6os8jdo4os5eom0.jpeg"/>
          <p:cNvPicPr>
            <a:picLocks noChangeAspect="1"/>
          </p:cNvPicPr>
          <p:nvPr/>
        </p:nvPicPr>
        <p:blipFill>
          <a:blip r:embed="rId3"/>
          <a:srcRect t="31248" b="31248"/>
          <a:stretch/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29:04-d3l4r40s8jdo4os5eok0.jpeg"/>
          <p:cNvPicPr>
            <a:picLocks noChangeAspect="1"/>
          </p:cNvPicPr>
          <p:nvPr/>
        </p:nvPicPr>
        <p:blipFill>
          <a:blip r:embed="rId5">
            <a:alphaModFix amt="10000"/>
          </a:blip>
          <a:srcRect t="37244" b="24949"/>
          <a:stretch/>
        </p:blipFill>
        <p:spPr>
          <a:xfrm>
            <a:off x="635" y="1621155"/>
            <a:ext cx="12191365" cy="3456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57630" y="3708400"/>
            <a:ext cx="9475470" cy="819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第4章实验设计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3125" y="2274570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41-d3l4rd8s8jdo4os5eorg.jpeg"/>
          <p:cNvPicPr>
            <a:picLocks noChangeAspect="1"/>
          </p:cNvPicPr>
          <p:nvPr/>
        </p:nvPicPr>
        <p:blipFill>
          <a:blip r:embed="rId4"/>
          <a:srcRect t="45865" b="45865"/>
          <a:stretch/>
        </p:blipFill>
        <p:spPr>
          <a:xfrm>
            <a:off x="378460" y="5948680"/>
            <a:ext cx="11487785" cy="56388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29:27-d3l4r9os8jdo4os5eoog.jpg"/>
          <p:cNvPicPr>
            <a:picLocks noChangeAspect="1"/>
          </p:cNvPicPr>
          <p:nvPr/>
        </p:nvPicPr>
        <p:blipFill>
          <a:blip r:embed="rId5">
            <a:alphaModFix amt="97000"/>
          </a:blip>
          <a:srcRect t="31994" b="31994"/>
          <a:stretch/>
        </p:blipFill>
        <p:spPr>
          <a:xfrm>
            <a:off x="378460" y="3932555"/>
            <a:ext cx="11487785" cy="23939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4365" y="435610"/>
            <a:ext cx="5615305" cy="8046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8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第4章：实验与结果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85165" y="1617980"/>
            <a:ext cx="10372090" cy="5790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闭环实验矩阵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85165" y="2261235"/>
            <a:ext cx="10371455" cy="14566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主结果：Stage1 vs Stage2（Acc / macro-F1 + 混淆矩阵）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 轻量化：small vs large；输入尺寸对比（精度–速度权衡）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 消融：min_conf、ramp-up、伪标权重/加权强度（验证关键选择）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 部署：FP32 vs INT8（Pi端 FPS / 延迟 / 资源占用）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05-d3l4r48s8jdo4os5eo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0"/>
            <a:ext cx="1217168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29:15-d3l4r6os8jdo4os5eom0.jpeg"/>
          <p:cNvPicPr>
            <a:picLocks noChangeAspect="1"/>
          </p:cNvPicPr>
          <p:nvPr/>
        </p:nvPicPr>
        <p:blipFill>
          <a:blip r:embed="rId3"/>
          <a:srcRect t="31248" b="31248"/>
          <a:stretch/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29:04-d3l4r40s8jdo4os5eok0.jpeg"/>
          <p:cNvPicPr>
            <a:picLocks noChangeAspect="1"/>
          </p:cNvPicPr>
          <p:nvPr/>
        </p:nvPicPr>
        <p:blipFill>
          <a:blip r:embed="rId5">
            <a:alphaModFix amt="10000"/>
          </a:blip>
          <a:srcRect t="37244" b="24949"/>
          <a:stretch/>
        </p:blipFill>
        <p:spPr>
          <a:xfrm>
            <a:off x="635" y="1621155"/>
            <a:ext cx="12191365" cy="3456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998870" y="2396455"/>
            <a:ext cx="8348870" cy="206509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4.1 实验设置：数据划分口径、指标（Acc/macro-F1；FPS/延迟/资源）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4.2 主结果对比：Stage1 vs Stage2（含混淆矩阵与每类指标）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4.3 轻量化对比：small vs large；输入尺寸（精度–速度权衡）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4.4 消融实验：min_conf、ramp-up、伪标权重/加权强度（关键）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4.5 部署评估：FP32 vs INT8（Pi端FPS/延迟/资源占用）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4.6 误差分析：易混类别、失败案例、原因与改进方向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05-d3l4r48s8jdo4os5eo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0"/>
            <a:ext cx="1217168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29:15-d3l4r6os8jdo4os5eom0.jpeg"/>
          <p:cNvPicPr>
            <a:picLocks noChangeAspect="1"/>
          </p:cNvPicPr>
          <p:nvPr/>
        </p:nvPicPr>
        <p:blipFill>
          <a:blip r:embed="rId3"/>
          <a:srcRect t="31248" b="31248"/>
          <a:stretch/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29:04-d3l4r40s8jdo4os5eok0.jpeg"/>
          <p:cNvPicPr>
            <a:picLocks noChangeAspect="1"/>
          </p:cNvPicPr>
          <p:nvPr/>
        </p:nvPicPr>
        <p:blipFill>
          <a:blip r:embed="rId5">
            <a:alphaModFix amt="10000"/>
          </a:blip>
          <a:srcRect t="37244" b="24949"/>
          <a:stretch/>
        </p:blipFill>
        <p:spPr>
          <a:xfrm>
            <a:off x="635" y="1621155"/>
            <a:ext cx="12191365" cy="3456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57630" y="3708400"/>
            <a:ext cx="9475470" cy="819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第5章系统实现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3125" y="2274570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65" y="1713230"/>
            <a:ext cx="3256915" cy="44850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690" y="573405"/>
            <a:ext cx="5020945" cy="566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第5章：系统与部署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740" y="1713230"/>
            <a:ext cx="3256915" cy="4485005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615" y="1713230"/>
            <a:ext cx="3256915" cy="448500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29:41-d3l4rd8s8jdo4os5eo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913765" y="6353810"/>
            <a:ext cx="6018530" cy="965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019175" y="1789430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模块与线程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019175" y="2835910"/>
            <a:ext cx="2994660" cy="18043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采集线程：摄像头帧获取与缓冲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推理线程：YuNet检测 + TFLite分类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显示/日志：叠加标签与概率，记录性能与结果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4629150" y="1789430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部署链路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629150" y="2835910"/>
            <a:ext cx="2994660" cy="9812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PyTorch → ONNX → TF SavedModel → TFLite（FP32 / INT8）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8201025" y="1789430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验收截图与日志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201025" y="2835910"/>
            <a:ext cx="2994660" cy="6196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系统架构图（含线程/数据流）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Pi端运行截图（含FPS/标签）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05-d3l4r48s8jdo4os5eo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0"/>
            <a:ext cx="1217168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29:15-d3l4r6os8jdo4os5eom0.jpeg"/>
          <p:cNvPicPr>
            <a:picLocks noChangeAspect="1"/>
          </p:cNvPicPr>
          <p:nvPr/>
        </p:nvPicPr>
        <p:blipFill>
          <a:blip r:embed="rId3"/>
          <a:srcRect t="31248" b="31248"/>
          <a:stretch/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29:04-d3l4r40s8jdo4os5eok0.jpeg"/>
          <p:cNvPicPr>
            <a:picLocks noChangeAspect="1"/>
          </p:cNvPicPr>
          <p:nvPr/>
        </p:nvPicPr>
        <p:blipFill>
          <a:blip r:embed="rId5">
            <a:alphaModFix amt="10000"/>
          </a:blip>
          <a:srcRect t="37244" b="24949"/>
          <a:stretch/>
        </p:blipFill>
        <p:spPr>
          <a:xfrm>
            <a:off x="635" y="1621155"/>
            <a:ext cx="12191365" cy="3456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877391" y="2427467"/>
            <a:ext cx="8437217" cy="200306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5.1 系统总体架构：模块划分 + 线程/数据流（采集/推理/显示/日志）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5.2 核心流程实现：YuNet检测→ROI→TFLite分类→结果叠加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5.3 部署流程：PyTorch→ONNX→TF→TFLite（FP32/INT8）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5.4 参数与性能调优：输入尺寸、detect_every、平滑窗口（默认值+范围）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5.5 验收与测试记录：截图、性能表、日志字段说明（用于复验）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05-d3l4r48s8jdo4os5eol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" y="0"/>
            <a:ext cx="1217168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10-11-20:29:15-d3l4r6os8jdo4os5eom0.jpeg"/>
          <p:cNvPicPr>
            <a:picLocks noChangeAspect="1"/>
          </p:cNvPicPr>
          <p:nvPr/>
        </p:nvPicPr>
        <p:blipFill>
          <a:blip r:embed="rId3"/>
          <a:srcRect t="31248" b="31248"/>
          <a:stretch/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10-11-20:29:04-d3l4r40s8jdo4os5eok0.jpeg"/>
          <p:cNvPicPr>
            <a:picLocks noChangeAspect="1"/>
          </p:cNvPicPr>
          <p:nvPr/>
        </p:nvPicPr>
        <p:blipFill>
          <a:blip r:embed="rId5">
            <a:alphaModFix amt="10000"/>
          </a:blip>
          <a:srcRect t="37244" b="24949"/>
          <a:stretch/>
        </p:blipFill>
        <p:spPr>
          <a:xfrm>
            <a:off x="635" y="1621155"/>
            <a:ext cx="12191365" cy="345630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357630" y="3708400"/>
            <a:ext cx="9475470" cy="8191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en-US" sz="3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图表清单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4683125" y="2274570"/>
            <a:ext cx="2824480" cy="1433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9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580" y="1115060"/>
            <a:ext cx="5553185" cy="47891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9800" y="1235075"/>
            <a:ext cx="2677795" cy="14941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关键图表清单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29:42-d3l4rdgs8jdo4os5eot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270" y="3067685"/>
            <a:ext cx="3773805" cy="283654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91125" y="1264920"/>
            <a:ext cx="2716530" cy="99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7张必含图表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191125" y="2319655"/>
            <a:ext cx="5256640" cy="34956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技术路线图（训练→导出→部署）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训练流程图（Stage1→伪标签→Stage2）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结果对比表（Stage1/Stage2/量化前后）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混淆矩阵（Stage1、Stage2或INT8后）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消融表（min_conf、ramp-up、伪标权重、输入尺寸）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性能图/表（FPS/延迟/模型大小/资源占用）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系统架构图 + Pi端运行截</a:t>
            </a:r>
            <a:r>
              <a:rPr 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宽屏</PresentationFormat>
  <Paragraphs>59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MiSans</vt:lpstr>
      <vt:lpstr>Arial</vt:lpstr>
      <vt:lpstr>微软雅黑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论文写作汇报：轻量化表情识别系统</dc:title>
  <dc:subject>论文写作汇报：轻量化表情识别系统</dc:subject>
  <dc:creator>Kimi</dc:creator>
  <cp:lastModifiedBy>墨 柒</cp:lastModifiedBy>
  <cp:revision>2</cp:revision>
  <dcterms:created xsi:type="dcterms:W3CDTF">2026-01-22T11:23:45Z</dcterms:created>
  <dcterms:modified xsi:type="dcterms:W3CDTF">2026-01-22T13:17:41Z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论文写作汇报：轻量化表情识别系统","ContentProducer":"001191110108MACG2KBH8F10000","ProduceID":"19be54c3-cc92-8327-8000-0000302b1770","ReservedCode1":"","ContentPropagator":"001191110108MACG2KBH8F20000","PropagateID":"19be54c3-cc92-8327-8000-0000302b1770","ReservedCode2":""}</vt:lpwstr>
  </property>
</Properties>
</file>