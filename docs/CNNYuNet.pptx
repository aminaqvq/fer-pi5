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embeddedFontLst>
    <p:embeddedFont>
      <p:font typeface="微软雅黑" panose="020B0503020204020204" pitchFamily="34" charset="-122"/>
      <p:regular r:id="rId30"/>
      <p:bold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96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209" y="152400"/>
            <a:ext cx="3225775" cy="48387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67" y="992163"/>
            <a:ext cx="4442817" cy="5919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7667" y="1784152"/>
            <a:ext cx="4442817" cy="833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基于CNN与YuNet的人脸表情识别系统设计与实现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737667" y="2817763"/>
            <a:ext cx="444281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答辩人：张吉鹏 学号：22404010103 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学院：智能制造学院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专业班级：22自动化（本）1班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指导教师：康莉莉 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答辩日期：2026-06-06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1165473"/>
            <a:ext cx="3791322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目录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7667" y="1848966"/>
            <a:ext cx="266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 Light" pitchFamily="34" charset="-120"/>
              </a:rPr>
              <a:t>01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7667" y="2056581"/>
            <a:ext cx="3767658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7667" y="2161356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课题背景与研究意义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38675" y="1848966"/>
            <a:ext cx="266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 Light" pitchFamily="34" charset="-120"/>
              </a:rPr>
              <a:t>02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38675" y="2056581"/>
            <a:ext cx="3767658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38675" y="2161356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系统需求与总体方案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7667" y="2603078"/>
            <a:ext cx="266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 Light" pitchFamily="34" charset="-120"/>
              </a:rPr>
              <a:t>03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7667" y="2810694"/>
            <a:ext cx="3767658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7667" y="2915469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数据集构建与预处理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38675" y="2603078"/>
            <a:ext cx="266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 Light" pitchFamily="34" charset="-120"/>
              </a:rPr>
              <a:t>04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38675" y="2810694"/>
            <a:ext cx="3767658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38675" y="2915469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模型设计与训练策略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7667" y="3357190"/>
            <a:ext cx="266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 Light" pitchFamily="34" charset="-120"/>
              </a:rPr>
              <a:t>05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7667" y="3564806"/>
            <a:ext cx="3767658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7667" y="3669581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实验结果与端侧部署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38675" y="3357190"/>
            <a:ext cx="266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 Light" pitchFamily="34" charset="-120"/>
              </a:rPr>
              <a:t>06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38675" y="3564806"/>
            <a:ext cx="3767658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38675" y="3669581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总结与展望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284214"/>
            <a:ext cx="5193953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01 课题背景与研究意义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921990"/>
            <a:ext cx="3791322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研究背景与意义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7667" y="1805508"/>
            <a:ext cx="1817117" cy="2416001"/>
          </a:xfrm>
          <a:prstGeom prst="roundRect">
            <a:avLst>
              <a:gd name="adj" fmla="val 503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7667" y="1786458"/>
            <a:ext cx="1817117" cy="76200"/>
          </a:xfrm>
          <a:prstGeom prst="roundRect">
            <a:avLst>
              <a:gd name="adj" fmla="val 7350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46163" y="1605483"/>
            <a:ext cx="400050" cy="400050"/>
          </a:xfrm>
          <a:prstGeom prst="roundRect">
            <a:avLst>
              <a:gd name="adj" fmla="val 14285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0067" y="2138883"/>
            <a:ext cx="151231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应用价值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0067" y="2468910"/>
            <a:ext cx="1512317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人脸表情识别是情感计算和计算机视觉的重要方向，可用于人机交互、课堂状态分析、驾驶监测、心理健康辅助等场景。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88134" y="1805508"/>
            <a:ext cx="1817191" cy="2416001"/>
          </a:xfrm>
          <a:prstGeom prst="roundRect">
            <a:avLst>
              <a:gd name="adj" fmla="val 503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88134" y="1786458"/>
            <a:ext cx="1817191" cy="76200"/>
          </a:xfrm>
          <a:prstGeom prst="roundRect">
            <a:avLst>
              <a:gd name="adj" fmla="val 7350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96704" y="1605483"/>
            <a:ext cx="400050" cy="400050"/>
          </a:xfrm>
          <a:prstGeom prst="roundRect">
            <a:avLst>
              <a:gd name="adj" fmla="val 14285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40534" y="2138883"/>
            <a:ext cx="151239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研究意义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40534" y="2468910"/>
            <a:ext cx="1512391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表情信息具有非接触、直观、实时性强等特点，能够帮助智能系统感知用户状态。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38675" y="1805508"/>
            <a:ext cx="1817117" cy="2416001"/>
          </a:xfrm>
          <a:prstGeom prst="roundRect">
            <a:avLst>
              <a:gd name="adj" fmla="val 503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38675" y="1786458"/>
            <a:ext cx="1817117" cy="76200"/>
          </a:xfrm>
          <a:prstGeom prst="roundRect">
            <a:avLst>
              <a:gd name="adj" fmla="val 7350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347171" y="1605483"/>
            <a:ext cx="400050" cy="400050"/>
          </a:xfrm>
          <a:prstGeom prst="roundRect">
            <a:avLst>
              <a:gd name="adj" fmla="val 14285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91075" y="2138883"/>
            <a:ext cx="151231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实际挑战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91075" y="2468910"/>
            <a:ext cx="151231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实际系统不仅要关注离线分类准确率，还要兼顾端侧算力、推理速度、模型体积和连续运行稳定性。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9142" y="1805508"/>
            <a:ext cx="1817191" cy="2416001"/>
          </a:xfrm>
          <a:prstGeom prst="roundRect">
            <a:avLst>
              <a:gd name="adj" fmla="val 503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9142" y="1786458"/>
            <a:ext cx="1817191" cy="76200"/>
          </a:xfrm>
          <a:prstGeom prst="roundRect">
            <a:avLst>
              <a:gd name="adj" fmla="val 7350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97713" y="1605483"/>
            <a:ext cx="400050" cy="400050"/>
          </a:xfrm>
          <a:prstGeom prst="roundRect">
            <a:avLst>
              <a:gd name="adj" fmla="val 14285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41542" y="2138883"/>
            <a:ext cx="151239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切入方向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41542" y="2468910"/>
            <a:ext cx="151239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面向 Raspberry Pi 5 端实时识别场景，采用 YuNet 完成人脸检测，采用 MobileNetV3-large 完成七类表情分类。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1360884"/>
            <a:ext cx="3791322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国内外研究现状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617" y="2044378"/>
            <a:ext cx="1836167" cy="1738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7217" y="2196778"/>
            <a:ext cx="145516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传统方法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947217" y="2526804"/>
            <a:ext cx="145516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早期方法主要依赖人工特征，如纹理特征、几何特征，再结合分类器完成识别。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9084" y="2044378"/>
            <a:ext cx="1836241" cy="1738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97684" y="2196778"/>
            <a:ext cx="145524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深度学习方法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97684" y="2526804"/>
            <a:ext cx="1455241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CNN能够自动学习眼部、嘴部、眉部和面部纹理等多层次特征，已成为表情识别的主流方法。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9625" y="2044378"/>
            <a:ext cx="1836167" cy="17382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8225" y="2196778"/>
            <a:ext cx="1455167" cy="500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轻量化与端侧部署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848225" y="2776835"/>
            <a:ext cx="145516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近年来研究逐渐关注轻量化网络、模型压缩、量化部署和边缘设备实时运行。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0092" y="2044378"/>
            <a:ext cx="1836241" cy="17382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98692" y="2196778"/>
            <a:ext cx="145524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切入点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798692" y="2526804"/>
            <a:ext cx="1455241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不单独追求复杂网络结构，而是围绕“检测 + 分类 + 转换 + 部署 + 运行测试”完成端侧表情识别系统闭环。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284214"/>
            <a:ext cx="5236741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02 系统需求与总体方案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588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42" y="152400"/>
            <a:ext cx="3225775" cy="48387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22" y="1012106"/>
            <a:ext cx="3119214" cy="31192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63442" y="525587"/>
            <a:ext cx="312449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系统需求分析</a:t>
            </a:r>
            <a:endParaRPr 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9154" y="986954"/>
            <a:ext cx="4457105" cy="84370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27227" y="1107877"/>
            <a:ext cx="13336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功能需求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3"/>
          <p:cNvSpPr/>
          <p:nvPr/>
        </p:nvSpPr>
        <p:spPr>
          <a:xfrm>
            <a:off x="4127227" y="1325761"/>
            <a:ext cx="415810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实现摄像头采集、人脸检测、ROI裁剪、表情分类、结果显示和图像保存。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9154" y="1916013"/>
            <a:ext cx="4457105" cy="84370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27227" y="2036936"/>
            <a:ext cx="13336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识别需求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5"/>
          <p:cNvSpPr/>
          <p:nvPr/>
        </p:nvSpPr>
        <p:spPr>
          <a:xfrm>
            <a:off x="4127227" y="2254821"/>
            <a:ext cx="415810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完成七类基本表情识别：愤怒、厌恶、恐惧、高兴、悲伤、惊讶和中性。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9154" y="2845073"/>
            <a:ext cx="4457105" cy="84370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127227" y="2965996"/>
            <a:ext cx="13336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性能需求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127227" y="3183880"/>
            <a:ext cx="415810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通过准确率、宏平均F1值和混淆矩阵综合评价模型效果，避免只看总体准确率。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9154" y="3774132"/>
            <a:ext cx="4457105" cy="84370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127227" y="3895055"/>
            <a:ext cx="13336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部署需求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127227" y="4112940"/>
            <a:ext cx="415810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系统能够在 Raspberry Pi 5 端连续运行，显示人脸框、关键点、表情类别、置信度和运行状态。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588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675605"/>
            <a:ext cx="312449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系统总体实现流程</a:t>
            </a:r>
            <a:endParaRPr 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11604" t="6897" r="13489" b="5058"/>
          <a:stretch>
            <a:fillRect/>
          </a:stretch>
        </p:blipFill>
        <p:spPr>
          <a:xfrm>
            <a:off x="774278" y="1038584"/>
            <a:ext cx="2278832" cy="3790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56794" y="1339676"/>
            <a:ext cx="4654153" cy="106635"/>
          </a:xfrm>
          <a:prstGeom prst="roundRect">
            <a:avLst>
              <a:gd name="adj" fmla="val 4202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596804" y="1232929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76799" y="1292982"/>
            <a:ext cx="1599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1</a:t>
            </a:r>
            <a:endParaRPr lang="en-US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03439" y="1638374"/>
            <a:ext cx="16003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PC端训练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3703439" y="1923752"/>
            <a:ext cx="460094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数据整理 → 数据划分 → 监督训练 → 伪标签训练 → 模型评估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16784" y="2414439"/>
            <a:ext cx="4494163" cy="106635"/>
          </a:xfrm>
          <a:prstGeom prst="roundRect">
            <a:avLst>
              <a:gd name="adj" fmla="val 4202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56794" y="2307692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36789" y="2367744"/>
            <a:ext cx="1599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2</a:t>
            </a:r>
            <a:endParaRPr lang="en-US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63429" y="2713137"/>
            <a:ext cx="16003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模型转换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63429" y="2998515"/>
            <a:ext cx="444095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PyTorch权重 → ONNX → TensorFlow SavedModel → TFLite FP16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076849" y="3489201"/>
            <a:ext cx="4334098" cy="106635"/>
          </a:xfrm>
          <a:prstGeom prst="roundRect">
            <a:avLst>
              <a:gd name="adj" fmla="val 4202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916859" y="3382454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996854" y="3442506"/>
            <a:ext cx="1599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3</a:t>
            </a:r>
            <a:endParaRPr lang="en-US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023494" y="3787899"/>
            <a:ext cx="16003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树莓派端运行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023494" y="4073277"/>
            <a:ext cx="428089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摄像头采集 → YuNet检测 → ROI裁剪 → 表情分类 → 结果显示与保存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687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555947"/>
            <a:ext cx="3574256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2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在线识别流程与功能模块</a:t>
            </a:r>
            <a:endParaRPr 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67" y="1054671"/>
            <a:ext cx="566738" cy="706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0696" y="1168003"/>
            <a:ext cx="170036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输入：摄像头视频帧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00696" y="1438275"/>
            <a:ext cx="700563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系统实时读取摄像头画面，作为识别流程的输入。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67" y="1761232"/>
            <a:ext cx="566738" cy="706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0696" y="1874565"/>
            <a:ext cx="170036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检测：YuNet人脸检测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1400696" y="2144837"/>
            <a:ext cx="700563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输出人脸检测框和5点关键点，为后续ROI裁剪提供定位依据。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67" y="2467794"/>
            <a:ext cx="566738" cy="7065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0696" y="2581126"/>
            <a:ext cx="2150418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预处理：ROI裁剪与尺寸调整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48D5FD4-8DA8-A4AE-CFDD-4E2BA37DF3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2614" y="1328166"/>
            <a:ext cx="3773500" cy="22956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00696" y="2851398"/>
            <a:ext cx="700563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根据检测框裁剪人脸区域，统一调整为224×224×3，并完成归一化。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667" y="3174355"/>
            <a:ext cx="566738" cy="7065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0696" y="3287688"/>
            <a:ext cx="268069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分类：MobileNetV3-large表情识别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400696" y="3557960"/>
            <a:ext cx="700563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输出七类表情概率，选择最大概率类别作为识别结果。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667" y="3880917"/>
            <a:ext cx="566738" cy="7065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00696" y="3994249"/>
            <a:ext cx="170036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输出：结果显示与保存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400696" y="4264521"/>
            <a:ext cx="700563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显示人脸框、关键点、表情类别、置信度、FPS和耗时信息。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284214"/>
            <a:ext cx="524276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03 数据集构建与预处理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488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711026"/>
            <a:ext cx="32076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95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数据集构建、清洗与划分</a:t>
            </a:r>
            <a:endParaRPr lang="zh-CN" sz="19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79663" y="1211089"/>
            <a:ext cx="2393305" cy="2228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7667" y="3504977"/>
            <a:ext cx="2393305" cy="901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zh-CN" altLang="en-US" sz="1100" b="1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公开经典、便于对比</a:t>
            </a: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：FER-2013 使用广泛，适合作为表情识别基准数据集。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zh-CN" altLang="en-US" sz="1100" b="1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真实场景复杂</a:t>
            </a: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：图片来自网络，包含光照、姿态、遮挡等变化，贴近实际应用。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68" y="1211089"/>
            <a:ext cx="2384672" cy="2228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79663" y="3654996"/>
            <a:ext cx="2393305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zh-CN" altLang="en-US" sz="1100" b="1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数据质量有限</a:t>
            </a: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：48×48 灰度图分辨率低，且存在标签噪声。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zh-CN" altLang="en-US" sz="1100" b="1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类别分布不均衡</a:t>
            </a: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：如“厌恶”样本少，容易导致模型偏向高频类别。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21660" y="1211089"/>
            <a:ext cx="1707505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95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数据规模</a:t>
            </a:r>
            <a:endParaRPr lang="zh-CN" sz="9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66385B8-43A1-FB97-4077-F213DC1EFA87}"/>
              </a:ext>
            </a:extLst>
          </p:cNvPr>
          <p:cNvGrpSpPr/>
          <p:nvPr/>
        </p:nvGrpSpPr>
        <p:grpSpPr>
          <a:xfrm>
            <a:off x="5907385" y="1681237"/>
            <a:ext cx="2869481" cy="1656159"/>
            <a:chOff x="5897910" y="1451744"/>
            <a:chExt cx="2869481" cy="1656159"/>
          </a:xfrm>
        </p:grpSpPr>
        <p:sp>
          <p:nvSpPr>
            <p:cNvPr id="9" name="Shape 5"/>
            <p:cNvSpPr/>
            <p:nvPr/>
          </p:nvSpPr>
          <p:spPr>
            <a:xfrm>
              <a:off x="6021660" y="1451744"/>
              <a:ext cx="2393305" cy="1656159"/>
            </a:xfrm>
            <a:prstGeom prst="roundRect">
              <a:avLst>
                <a:gd name="adj" fmla="val 2537"/>
              </a:avLst>
            </a:prstGeom>
            <a:noFill/>
            <a:ln w="4763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Shape 6"/>
            <p:cNvSpPr/>
            <p:nvPr/>
          </p:nvSpPr>
          <p:spPr>
            <a:xfrm>
              <a:off x="6026423" y="1456506"/>
              <a:ext cx="2383780" cy="27443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897910" y="1506215"/>
              <a:ext cx="979661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17000"/>
                </a:lnSpc>
                <a:buNone/>
              </a:pPr>
              <a:r>
                <a:rPr lang="zh-CN" altLang="en-US" sz="950" b="1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数据集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6853758" y="1506215"/>
              <a:ext cx="738932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17000"/>
                </a:lnSpc>
                <a:buNone/>
              </a:pPr>
              <a:r>
                <a:rPr lang="zh-CN" altLang="en-US" sz="950" b="1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样本数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7568878" y="1506215"/>
              <a:ext cx="7413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17000"/>
                </a:lnSpc>
                <a:buNone/>
              </a:pPr>
              <a:r>
                <a:rPr lang="zh-CN" altLang="en-US" sz="950" b="1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用途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Shape 10"/>
            <p:cNvSpPr/>
            <p:nvPr/>
          </p:nvSpPr>
          <p:spPr>
            <a:xfrm>
              <a:off x="6026423" y="1730946"/>
              <a:ext cx="2383780" cy="27443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11"/>
            <p:cNvSpPr/>
            <p:nvPr/>
          </p:nvSpPr>
          <p:spPr>
            <a:xfrm>
              <a:off x="6126510" y="1780654"/>
              <a:ext cx="1208261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训练集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7082358" y="1780654"/>
              <a:ext cx="967532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141,105</a:t>
              </a:r>
              <a:endParaRPr lang="en-US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7797478" y="1780654"/>
              <a:ext cx="9699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监督训练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6026423" y="2005385"/>
              <a:ext cx="2383780" cy="27443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15"/>
            <p:cNvSpPr/>
            <p:nvPr/>
          </p:nvSpPr>
          <p:spPr>
            <a:xfrm>
              <a:off x="6126510" y="2055093"/>
              <a:ext cx="1208261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验证集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16"/>
            <p:cNvSpPr/>
            <p:nvPr/>
          </p:nvSpPr>
          <p:spPr>
            <a:xfrm>
              <a:off x="7082358" y="2055093"/>
              <a:ext cx="967532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17,639</a:t>
              </a:r>
              <a:endParaRPr lang="en-US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7797478" y="2055093"/>
              <a:ext cx="9699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模型选择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Shape 18"/>
            <p:cNvSpPr/>
            <p:nvPr/>
          </p:nvSpPr>
          <p:spPr>
            <a:xfrm>
              <a:off x="6026423" y="2279824"/>
              <a:ext cx="2383780" cy="27443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19"/>
            <p:cNvSpPr/>
            <p:nvPr/>
          </p:nvSpPr>
          <p:spPr>
            <a:xfrm>
              <a:off x="6126510" y="2329532"/>
              <a:ext cx="1208261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测试集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20"/>
            <p:cNvSpPr/>
            <p:nvPr/>
          </p:nvSpPr>
          <p:spPr>
            <a:xfrm>
              <a:off x="7082358" y="2329532"/>
              <a:ext cx="967532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17,636</a:t>
              </a:r>
              <a:endParaRPr lang="en-US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21"/>
            <p:cNvSpPr/>
            <p:nvPr/>
          </p:nvSpPr>
          <p:spPr>
            <a:xfrm>
              <a:off x="7797478" y="2329532"/>
              <a:ext cx="9699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最终评价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Shape 22"/>
            <p:cNvSpPr/>
            <p:nvPr/>
          </p:nvSpPr>
          <p:spPr>
            <a:xfrm>
              <a:off x="6026423" y="2554263"/>
              <a:ext cx="2383780" cy="27443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6126510" y="2603971"/>
              <a:ext cx="1208261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无标签集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24"/>
            <p:cNvSpPr/>
            <p:nvPr/>
          </p:nvSpPr>
          <p:spPr>
            <a:xfrm>
              <a:off x="7082358" y="2603971"/>
              <a:ext cx="967532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44,095</a:t>
              </a:r>
              <a:endParaRPr lang="en-US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25"/>
            <p:cNvSpPr/>
            <p:nvPr/>
          </p:nvSpPr>
          <p:spPr>
            <a:xfrm>
              <a:off x="7797478" y="2603971"/>
              <a:ext cx="9699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伪标签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Shape 26"/>
            <p:cNvSpPr/>
            <p:nvPr/>
          </p:nvSpPr>
          <p:spPr>
            <a:xfrm>
              <a:off x="6026423" y="2828702"/>
              <a:ext cx="2383780" cy="27443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6126510" y="2878410"/>
              <a:ext cx="1208261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b="1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合计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7082358" y="2878410"/>
              <a:ext cx="967532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950" b="1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220,475</a:t>
              </a:r>
              <a:endParaRPr lang="en-US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29"/>
            <p:cNvSpPr/>
            <p:nvPr/>
          </p:nvSpPr>
          <p:spPr>
            <a:xfrm>
              <a:off x="7797478" y="2878410"/>
              <a:ext cx="9699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b="1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全部数据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9D319C9-CE23-9570-8601-64C977CFEF95}"/>
              </a:ext>
            </a:extLst>
          </p:cNvPr>
          <p:cNvGrpSpPr/>
          <p:nvPr/>
        </p:nvGrpSpPr>
        <p:grpSpPr>
          <a:xfrm>
            <a:off x="6026423" y="3646847"/>
            <a:ext cx="2393305" cy="742578"/>
            <a:chOff x="6021660" y="3192289"/>
            <a:chExt cx="2393305" cy="742578"/>
          </a:xfrm>
        </p:grpSpPr>
        <p:sp>
          <p:nvSpPr>
            <p:cNvPr id="34" name="Shape 30"/>
            <p:cNvSpPr/>
            <p:nvPr/>
          </p:nvSpPr>
          <p:spPr>
            <a:xfrm>
              <a:off x="6021660" y="3192289"/>
              <a:ext cx="2393305" cy="742578"/>
            </a:xfrm>
            <a:prstGeom prst="roundRect">
              <a:avLst>
                <a:gd name="adj" fmla="val 5657"/>
              </a:avLst>
            </a:prstGeom>
            <a:solidFill>
              <a:srgbClr val="B6D6FC"/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21673" y="3311500"/>
              <a:ext cx="156270" cy="125016"/>
            </a:xfrm>
            <a:prstGeom prst="rect">
              <a:avLst/>
            </a:prstGeom>
          </p:spPr>
        </p:pic>
        <p:sp>
          <p:nvSpPr>
            <p:cNvPr id="36" name="Text 31"/>
            <p:cNvSpPr/>
            <p:nvPr/>
          </p:nvSpPr>
          <p:spPr>
            <a:xfrm>
              <a:off x="6377955" y="3292301"/>
              <a:ext cx="1936998" cy="5250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zh-CN" altLang="en-US" sz="9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无标签集用于伪标签生成，测试集仅用于最终评价。</a:t>
              </a:r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输入</a:t>
              </a:r>
              <a:r>
                <a:rPr lang="zh-CN" altLang="en-US" sz="9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处理：224×224 + 归一化 + 数据增强。</a:t>
              </a:r>
              <a:endParaRPr lang="zh-CN" sz="9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53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0374" y="551259"/>
            <a:ext cx="4723433" cy="4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55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数据预处理与类别不均衡处理</a:t>
            </a:r>
            <a:endParaRPr lang="zh-CN" sz="2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FB4DE9F-46D5-76C3-5AB3-49EFFFE2807E}"/>
              </a:ext>
            </a:extLst>
          </p:cNvPr>
          <p:cNvGrpSpPr/>
          <p:nvPr/>
        </p:nvGrpSpPr>
        <p:grpSpPr>
          <a:xfrm>
            <a:off x="725611" y="1300609"/>
            <a:ext cx="3681487" cy="1500485"/>
            <a:chOff x="730374" y="1451893"/>
            <a:chExt cx="3681487" cy="1500485"/>
          </a:xfrm>
        </p:grpSpPr>
        <p:sp>
          <p:nvSpPr>
            <p:cNvPr id="4" name="Shape 2"/>
            <p:cNvSpPr/>
            <p:nvPr/>
          </p:nvSpPr>
          <p:spPr>
            <a:xfrm>
              <a:off x="730374" y="1451893"/>
              <a:ext cx="3681487" cy="1500485"/>
            </a:xfrm>
            <a:prstGeom prst="roundRect">
              <a:avLst>
                <a:gd name="adj" fmla="val 3675"/>
              </a:avLst>
            </a:prstGeom>
            <a:solidFill>
              <a:srgbClr val="B6D6FC"/>
            </a:solidFill>
            <a:ln/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640" y="1632049"/>
              <a:ext cx="246087" cy="1969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238994" y="1613892"/>
              <a:ext cx="2426419" cy="246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5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aleway" pitchFamily="34" charset="-120"/>
                </a:rPr>
                <a:t>图像预处理</a:t>
              </a:r>
              <a:endParaRPr lang="zh-CN" sz="15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1238994" y="1989163"/>
              <a:ext cx="3041600" cy="7813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2000"/>
                </a:lnSpc>
                <a:buNone/>
              </a:pPr>
              <a:r>
                <a:rPr lang="zh-CN" altLang="en-US" sz="12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FER2013格式样本先由像素序列还原为48×48灰度图，再转换为三通道图像，统一调整为224×224×3。</a:t>
              </a:r>
              <a:endParaRPr lang="zh-CN" sz="12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A65092-1C68-2B40-2ABE-9D461C503006}"/>
              </a:ext>
            </a:extLst>
          </p:cNvPr>
          <p:cNvGrpSpPr/>
          <p:nvPr/>
        </p:nvGrpSpPr>
        <p:grpSpPr>
          <a:xfrm>
            <a:off x="730374" y="2981250"/>
            <a:ext cx="3768700" cy="1465660"/>
            <a:chOff x="730374" y="3097709"/>
            <a:chExt cx="3681487" cy="1240036"/>
          </a:xfrm>
        </p:grpSpPr>
        <p:sp>
          <p:nvSpPr>
            <p:cNvPr id="8" name="Shape 5"/>
            <p:cNvSpPr/>
            <p:nvPr/>
          </p:nvSpPr>
          <p:spPr>
            <a:xfrm>
              <a:off x="730374" y="3097709"/>
              <a:ext cx="3681487" cy="1240036"/>
            </a:xfrm>
            <a:prstGeom prst="roundRect">
              <a:avLst>
                <a:gd name="adj" fmla="val 4447"/>
              </a:avLst>
            </a:prstGeom>
            <a:solidFill>
              <a:srgbClr val="D2D2E0"/>
            </a:solidFill>
            <a:ln/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1640" y="3277865"/>
              <a:ext cx="246087" cy="19690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1238994" y="3259708"/>
              <a:ext cx="2426419" cy="246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5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aleway" pitchFamily="34" charset="-120"/>
                </a:rPr>
                <a:t>归一化处理</a:t>
              </a:r>
              <a:endParaRPr lang="zh-CN" sz="15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1238994" y="3634978"/>
              <a:ext cx="3041600" cy="5208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2000"/>
                </a:lnSpc>
                <a:buNone/>
              </a:pPr>
              <a:r>
                <a:rPr lang="zh-CN" altLang="en-US" sz="12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使用与ImageNet预训练模型一致的均值和标准差进行归一化，减少输入分布差异。</a:t>
              </a:r>
              <a:endParaRPr lang="zh-CN" sz="12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Shape 8"/>
          <p:cNvSpPr/>
          <p:nvPr/>
        </p:nvSpPr>
        <p:spPr>
          <a:xfrm>
            <a:off x="4736902" y="1300609"/>
            <a:ext cx="3681487" cy="1500485"/>
          </a:xfrm>
          <a:prstGeom prst="roundRect">
            <a:avLst>
              <a:gd name="adj" fmla="val 3675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168" y="1480765"/>
            <a:ext cx="246087" cy="196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45522" y="1462608"/>
            <a:ext cx="2426419" cy="24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数据增强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245522" y="1837879"/>
            <a:ext cx="3041600" cy="78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训练阶段采用随机水平翻转、随机旋转、随机裁剪缩放和随机擦除，提高模型对姿态、边界变化和局部遮挡的适应能力。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736902" y="2946425"/>
            <a:ext cx="3681487" cy="1500485"/>
          </a:xfrm>
          <a:prstGeom prst="roundRect">
            <a:avLst>
              <a:gd name="adj" fmla="val 3675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168" y="3126581"/>
            <a:ext cx="246087" cy="196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45522" y="3108424"/>
            <a:ext cx="2426419" cy="24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类别不均衡处理</a:t>
            </a:r>
            <a:endParaRPr lang="zh-CN" sz="15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245522" y="3483694"/>
            <a:ext cx="3041600" cy="78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针对厌恶、恐惧等少数类别，引入类别权重和每类样本数量控制，减弱多数类样本对训练过程的主导。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284214"/>
            <a:ext cx="5248275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04 模型设计与训练策略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786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655439"/>
            <a:ext cx="3457873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35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YuNet人脸检测</a:t>
            </a:r>
            <a:endParaRPr lang="zh-CN" sz="2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67" y="1646858"/>
            <a:ext cx="3605733" cy="23868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41553" y="1289670"/>
            <a:ext cx="3826669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41553" y="1580034"/>
            <a:ext cx="2257574" cy="22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4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YuNet：人脸定位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41553" y="1912962"/>
            <a:ext cx="3369469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zh-CN" altLang="en-US" sz="11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输出人脸框与5点关键点，为ROI裁剪提供位置依据。</a:t>
            </a:r>
            <a:endParaRPr lang="zh-CN" sz="1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41553" y="2368971"/>
            <a:ext cx="2257574" cy="22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4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协同流程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41553" y="2701900"/>
            <a:ext cx="3369469" cy="45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zh-CN" altLang="en-US" sz="11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摄像头帧 → YuNet检测 → ROI裁剪 → MobileNetV3-large分类 → 结果叠加显示</a:t>
            </a:r>
            <a:endParaRPr lang="zh-CN" sz="1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41553" y="3387403"/>
            <a:ext cx="3369469" cy="979140"/>
          </a:xfrm>
          <a:prstGeom prst="roundRect">
            <a:avLst>
              <a:gd name="adj" fmla="val 5149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508" y="3556025"/>
            <a:ext cx="187523" cy="1500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987" y="3525366"/>
            <a:ext cx="2822079" cy="68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zh-CN" alt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YuNet采用预训练检测模型；本文重点完成分类模型训练、TFLite FP16转换与Raspberry Pi 5端集成。</a:t>
            </a:r>
            <a:endParaRPr lang="zh-CN" sz="1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588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610419"/>
            <a:ext cx="573040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基于MobileNetV3-large的表情识别模型设计</a:t>
            </a:r>
            <a:endParaRPr 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" y="1916906"/>
            <a:ext cx="2836366" cy="17709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28257" y="1167780"/>
            <a:ext cx="14288" cy="3269307"/>
          </a:xfrm>
          <a:prstGeom prst="roundRect">
            <a:avLst>
              <a:gd name="adj" fmla="val 31362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613970" y="1280592"/>
            <a:ext cx="213345" cy="14288"/>
          </a:xfrm>
          <a:prstGeom prst="roundRect">
            <a:avLst>
              <a:gd name="adj" fmla="val 31362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88259" y="1247738"/>
            <a:ext cx="79995" cy="79995"/>
          </a:xfrm>
          <a:prstGeom prst="roundRect">
            <a:avLst>
              <a:gd name="adj" fmla="val 35721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55022" y="1187723"/>
            <a:ext cx="16003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输入层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55022" y="1473101"/>
            <a:ext cx="3356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输入为YuNet裁剪后的人脸ROI图像，统一调整为224×224×3。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13970" y="2140595"/>
            <a:ext cx="213345" cy="14288"/>
          </a:xfrm>
          <a:prstGeom prst="roundRect">
            <a:avLst>
              <a:gd name="adj" fmla="val 31362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88259" y="2107741"/>
            <a:ext cx="79995" cy="79995"/>
          </a:xfrm>
          <a:prstGeom prst="roundRect">
            <a:avLst>
              <a:gd name="adj" fmla="val 35721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55022" y="2047726"/>
            <a:ext cx="16003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特征提取层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55022" y="2333104"/>
            <a:ext cx="3356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利用MobileNetV3-large骨干网络提取眼部、嘴部、眉部和面部纹理等表情相关特征。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13970" y="3000598"/>
            <a:ext cx="213345" cy="14288"/>
          </a:xfrm>
          <a:prstGeom prst="roundRect">
            <a:avLst>
              <a:gd name="adj" fmla="val 31362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88259" y="2967744"/>
            <a:ext cx="79995" cy="79995"/>
          </a:xfrm>
          <a:prstGeom prst="roundRect">
            <a:avLst>
              <a:gd name="adj" fmla="val 35721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55022" y="2907729"/>
            <a:ext cx="16003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分类输出层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55022" y="3193107"/>
            <a:ext cx="3356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将原始分类层替换为七分类输出层，对应 angry、disgust、fear、happy、sad、surprise、neutral。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13970" y="3860602"/>
            <a:ext cx="213345" cy="14288"/>
          </a:xfrm>
          <a:prstGeom prst="roundRect">
            <a:avLst>
              <a:gd name="adj" fmla="val 31362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588259" y="3827748"/>
            <a:ext cx="79995" cy="79995"/>
          </a:xfrm>
          <a:prstGeom prst="roundRect">
            <a:avLst>
              <a:gd name="adj" fmla="val 35721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55022" y="3767733"/>
            <a:ext cx="16003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训练优化</a:t>
            </a:r>
            <a:endParaRPr lang="zh-CN" sz="12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55022" y="4053111"/>
            <a:ext cx="3356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结合类别均衡、标签平滑、AdamW优化器和学习率调度，提高训练稳定性。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763265"/>
            <a:ext cx="4791075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伪标签辅助与多阶段训练策略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67" y="2015877"/>
            <a:ext cx="3191991" cy="1728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59759" y="1500039"/>
            <a:ext cx="4151263" cy="2760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Stage 1：基础监督训练 仅使用真实标注训练集，得到初始分类模型。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Stage 2：第一轮伪标签训练 使用Stage 1模型预测无标签集，筛选置信度≥0.85的样本，与真实标注样本联合训练。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Stage 3：第二轮伪标签训练 使用Stage 2模型重新生成伪标签，提高阈值至0.90，进一步筛选更可靠样本。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策略目的 利用无标签样本扩展监督信息，同时通过置信度阈值和类别数量控制降低错误伪标签影响。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284214"/>
            <a:ext cx="5634335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05-1 多阶段训练结果对比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791914"/>
            <a:ext cx="3791322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多阶段训练结果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67" y="1558751"/>
            <a:ext cx="3671664" cy="264281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DAA5CD53-6C6C-AA38-BB51-13A77D145B6E}"/>
              </a:ext>
            </a:extLst>
          </p:cNvPr>
          <p:cNvGrpSpPr/>
          <p:nvPr/>
        </p:nvGrpSpPr>
        <p:grpSpPr>
          <a:xfrm>
            <a:off x="4739432" y="1960102"/>
            <a:ext cx="3671664" cy="1840111"/>
            <a:chOff x="4739432" y="1528688"/>
            <a:chExt cx="3671664" cy="1840111"/>
          </a:xfrm>
        </p:grpSpPr>
        <p:sp>
          <p:nvSpPr>
            <p:cNvPr id="5" name="Text 2"/>
            <p:cNvSpPr/>
            <p:nvPr/>
          </p:nvSpPr>
          <p:spPr>
            <a:xfrm>
              <a:off x="4739432" y="1528688"/>
              <a:ext cx="3671664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30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Stage 2相比Stage 1提升明显，说明高置信度伪标签有效扩展了训练监督信息。</a:t>
              </a:r>
              <a:endParaRPr 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4739432" y="2182044"/>
              <a:ext cx="3671664" cy="11867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spcAft>
                  <a:spcPts val="900"/>
                </a:spcAft>
                <a:buNone/>
              </a:pPr>
              <a:r>
                <a:rPr lang="zh-CN" altLang="en-US" sz="130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Stage 3与Stage 2结果接近，说明模型继续训练后趋于稳定。</a:t>
              </a:r>
              <a:endParaRPr 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300" dirty="0">
                  <a:solidFill>
                    <a:srgbClr val="3C39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" pitchFamily="34" charset="-120"/>
                </a:rPr>
                <a:t>最终选择Stage 3模型用于后续模型导出和树莓派端部署。</a:t>
              </a:r>
              <a:endParaRPr 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539725"/>
            <a:ext cx="3791322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b="1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混淆矩阵分析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67" y="1306562"/>
            <a:ext cx="3671664" cy="3147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2" y="1826716"/>
            <a:ext cx="3671664" cy="210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识别效果较好的类别 高兴、中性、惊讶类别特征相对明显，识别效果较好。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容易混淆的类别 恐惧、悲伤、厌恶在局部表情特征上存在相似性，仍有一定误判。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改进效果 相比基础监督训练，多阶段伪标签训练后混淆情况减少，模型对少数类和相似类的识别能力有所提升。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363316"/>
            <a:ext cx="4240039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05-2 模型导出与端侧部署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74763" y="630362"/>
            <a:ext cx="4365799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2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模型导出与TFLite FP16转换</a:t>
            </a:r>
            <a:endParaRPr 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7667" y="1513880"/>
            <a:ext cx="3767658" cy="1200820"/>
          </a:xfrm>
          <a:prstGeom prst="roundRect">
            <a:avLst>
              <a:gd name="adj" fmla="val 761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7667" y="1494830"/>
            <a:ext cx="3767658" cy="76200"/>
          </a:xfrm>
          <a:prstGeom prst="roundRect">
            <a:avLst>
              <a:gd name="adj" fmla="val 7350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421434" y="1313855"/>
            <a:ext cx="400050" cy="400050"/>
          </a:xfrm>
          <a:prstGeom prst="roundRect">
            <a:avLst>
              <a:gd name="adj" fmla="val 14285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0067" y="1847255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模型导出流程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0067" y="2135609"/>
            <a:ext cx="346285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PyTorch权重文件 → ONNX → 简化ONNX → TensorFlow SavedModel → TFLite模型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38675" y="1513880"/>
            <a:ext cx="3767658" cy="1200820"/>
          </a:xfrm>
          <a:prstGeom prst="roundRect">
            <a:avLst>
              <a:gd name="adj" fmla="val 761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38675" y="1494830"/>
            <a:ext cx="3767658" cy="76200"/>
          </a:xfrm>
          <a:prstGeom prst="roundRect">
            <a:avLst>
              <a:gd name="adj" fmla="val 7350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22442" y="1313855"/>
            <a:ext cx="400050" cy="400050"/>
          </a:xfrm>
          <a:prstGeom prst="roundRect">
            <a:avLst>
              <a:gd name="adj" fmla="val 14285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91075" y="1847255"/>
            <a:ext cx="16670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端侧部署优化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91075" y="2135609"/>
            <a:ext cx="346285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生成FP16量化TFLite模型，降低模型体积和端侧推理负担。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7667" y="2898056"/>
            <a:ext cx="7668667" cy="9971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7667" y="3241402"/>
            <a:ext cx="3351833" cy="1121718"/>
          </a:xfrm>
          <a:prstGeom prst="roundRect">
            <a:avLst>
              <a:gd name="adj" fmla="val 499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17" y="3424163"/>
            <a:ext cx="208359" cy="1666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12726" y="3408090"/>
            <a:ext cx="21242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模型大小变化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212726" y="3749799"/>
            <a:ext cx="274342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原始TFLite模型约16451KB，FP16量化后约8265KB。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419600" y="3241402"/>
            <a:ext cx="3991421" cy="1121718"/>
          </a:xfrm>
          <a:prstGeom prst="roundRect">
            <a:avLst>
              <a:gd name="adj" fmla="val 499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50" y="3424163"/>
            <a:ext cx="208359" cy="1666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94659" y="3408090"/>
            <a:ext cx="2124224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一致性验证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894659" y="3749799"/>
            <a:ext cx="338301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使用样本对PyTorch、ONNX和TFLite输出进行对比，验证转换后预测结果一致。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687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525512"/>
            <a:ext cx="3291185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200" b="1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系统实际运行展示</a:t>
            </a:r>
            <a:endParaRPr 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67" y="1250305"/>
            <a:ext cx="3141613" cy="3141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15024" y="1120527"/>
            <a:ext cx="215756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运行平台 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15024" y="1429345"/>
            <a:ext cx="3696072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Raspberry Pi 5 + 摄像头 + TFLite FP16表情分类模型 + YuNet人脸检测模型。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15024" y="1944886"/>
            <a:ext cx="215756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显示内容 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15024" y="2253704"/>
            <a:ext cx="3696072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人脸框、5点关键点、表情类别、置信度、FPS、检测耗时和分类耗时。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15024" y="2769245"/>
            <a:ext cx="215756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运行优化 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15024" y="3078063"/>
            <a:ext cx="3696072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缩小检测输入尺寸，间隔执行人脸检测和表情分类，限制单帧分类人脸数量，采用异步摄像头读取。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15024" y="3593604"/>
            <a:ext cx="215756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3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运行效果 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15024" y="3902422"/>
            <a:ext cx="3696072" cy="6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1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系统能够在室内近距离场景下完成实时人脸检测与表情识别，连续运行过程中未观察到程序崩溃、摄像头中断或界面卡死。</a:t>
            </a:r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284214"/>
            <a:ext cx="5058296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06 总结与展望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856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0374" y="540172"/>
            <a:ext cx="3575149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45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总结与展望</a:t>
            </a:r>
            <a:endParaRPr lang="zh-CN" sz="24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087" y="1163092"/>
            <a:ext cx="3797573" cy="34402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2242" y="1302097"/>
            <a:ext cx="1870770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完成的工作</a:t>
            </a:r>
            <a:endParaRPr lang="zh-CN" sz="14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2242" y="1605855"/>
            <a:ext cx="3462412" cy="2858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zh-CN" altLang="en-US" sz="12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完成七类表情数据集构建、清洗、划分与预处理。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zh-CN" altLang="en-US" sz="12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完成MobileNetV3-large表情分类模型训练。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zh-CN" altLang="en-US" sz="12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引入类别均衡、数据增强和伪标签辅助训练策略。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zh-CN" altLang="en-US" sz="12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最终模型在测试集上取得90.77%的准确率和87.43%的宏平均F1值。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5"/>
            </a:pPr>
            <a:r>
              <a:rPr lang="zh-CN" altLang="en-US" sz="12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完成模型导出、FP16量化和Raspberry Pi 5端实时部署。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6"/>
            </a:pPr>
            <a:r>
              <a:rPr lang="zh-CN" altLang="en-US" sz="12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实现摄像头采集、人脸检测、表情分类、结果显示和图像保存的完整闭环。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5979" y="1163092"/>
            <a:ext cx="3797647" cy="34402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12134" y="1302097"/>
            <a:ext cx="1870770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不足与展望</a:t>
            </a:r>
            <a:endParaRPr lang="zh-CN" sz="14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12134" y="1605855"/>
            <a:ext cx="3462486" cy="2052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zh-CN" altLang="en-US" sz="16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复杂光照、遮挡、侧脸和多人场景下识别稳定性仍需提升。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zh-CN" altLang="en-US" sz="16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恐惧、悲伤、厌恶等视觉相似类别仍存在一定混淆。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zh-CN" altLang="en-US" sz="16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后续可尝试更轻量化骨干网络，进一步降低端侧推理延迟。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zh-CN" altLang="en-US" sz="16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可扩展至多目标同时识别、运行日志记录和跨场景泛化测试。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2284214"/>
            <a:ext cx="5058296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07 参考文献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588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7667" y="543818"/>
            <a:ext cx="312449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21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参考文献</a:t>
            </a:r>
            <a:endParaRPr 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7667" y="1047899"/>
            <a:ext cx="81258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[1] 蒋斌, 崔晓梅, 等. 轻量级网络在人脸表情识别上的新进展[J]. 计算机应用研究, 2024, 41(3): 663-670.</a:t>
            </a:r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7667" y="1335881"/>
            <a:ext cx="7668667" cy="3263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[2] Ullah S, Ou J, et al. Facial expression recognition (FER) survey: a vision, architectural elements, and future directions[J]. PeerJ Computer Science, 2024, 10: e2024.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[3] Kopalidis T, Solachidis V, et al. Advances in facial expression recognition: a survey of methods, benchmarks, models, and datasets[J]. Information, 2024, 15(3): 135.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[4] Goodfellow I J, Erhan D, et al. Challenges in representation learning: a report on three machine learning contests[C]. Berlin: Springer, 2013: 117-124.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[5] 赵晓, 杨晨, 等. 基于注意力机制ResNet轻量网络的面部表情识别[J]. 液晶与显示, 2023, 38(11): 1503-1510.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[6] 左义海, 白武尚, 等. NCA-MobileNet: 一种轻量化人脸表情识别方法[J]. 液晶与显示, 2024, 39(4): 522-531.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zh-CN" alt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[7] 李艳秋, 李胜赵, 等. 轻量型Swin Transformer与多尺度特征融合相结合的人脸表情识别方法[J]. 光电工程, 2025, 52(1): 240234.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[8] Jiang B, Li N, et al. Research on facial expression recognition algorithm based on improved MobileNetV3[J]. EURASIP Journal on Image and Video Processing, 2024, 2024: 22.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[9] Howard A, Sandler M, et al. Searching for MobileNetV3[C]. Seoul: IEEE, 2019: 1314-1324.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[10] Wu W, Peng H, Yu S. YuNet: a tiny millisecond-level face detector[J]. Machine Intelligence Research, 2023, 20(5): 656-665.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95000"/>
            </a:srgbClr>
          </a:solidFill>
          <a:ln w="4763">
            <a:solidFill>
              <a:srgbClr val="E6E6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42" y="152400"/>
            <a:ext cx="8602117" cy="4838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0942" y="152400"/>
            <a:ext cx="8602117" cy="4838700"/>
          </a:xfrm>
          <a:prstGeom prst="roundRect">
            <a:avLst>
              <a:gd name="adj" fmla="val 1985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42815" y="1095747"/>
            <a:ext cx="4829696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3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感谢观看</a:t>
            </a:r>
            <a:endParaRPr 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9067" y="1870844"/>
            <a:ext cx="789726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敬请各位老师批评指正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7667" y="2287563"/>
            <a:ext cx="766866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     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94672" y="2914278"/>
            <a:ext cx="5154656" cy="32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600" dirty="0">
                <a:solidFill>
                  <a:srgbClr val="1B1B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aleway" pitchFamily="34" charset="-120"/>
              </a:rPr>
              <a:t>基于CNN与YuNet的人脸表情识别系统设计与实现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7667" y="3364334"/>
            <a:ext cx="7668667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150"/>
              </a:spcAft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答辩人：张吉鹏｜指导教师：康莉莉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zh-CN" altLang="en-US" sz="1300" dirty="0">
                <a:solidFill>
                  <a:srgbClr val="3C39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itchFamily="34" charset="-120"/>
              </a:rPr>
              <a:t>天津中德应用技术大学 智能制造学院</a:t>
            </a:r>
            <a:endParaRPr 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2117</Words>
  <Application>Microsoft Office PowerPoint</Application>
  <PresentationFormat>全屏显示(16:9)</PresentationFormat>
  <Paragraphs>212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Arial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墨 柒</cp:lastModifiedBy>
  <cp:revision>5</cp:revision>
  <dcterms:created xsi:type="dcterms:W3CDTF">2026-06-02T09:34:45Z</dcterms:created>
  <dcterms:modified xsi:type="dcterms:W3CDTF">2026-06-05T01:11:47Z</dcterms:modified>
</cp:coreProperties>
</file>