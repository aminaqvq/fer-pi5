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9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59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4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17221" y="2134235"/>
            <a:ext cx="8293866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4400" b="1" dirty="0"/>
              <a:t>基于</a:t>
            </a:r>
            <a:r>
              <a:rPr lang="en-US" altLang="zh-CN" sz="4400" b="1" dirty="0"/>
              <a:t>CNN</a:t>
            </a:r>
            <a:r>
              <a:rPr lang="zh-CN" altLang="en-US" sz="4400" b="1" dirty="0"/>
              <a:t>与</a:t>
            </a:r>
            <a:r>
              <a:rPr lang="en-US" altLang="zh-CN" sz="4400" b="1" dirty="0"/>
              <a:t>YuNet</a:t>
            </a:r>
            <a:r>
              <a:rPr lang="zh-CN" altLang="en-US" sz="4400" b="1" dirty="0"/>
              <a:t>的人脸表情识别系统设计与实现</a:t>
            </a:r>
            <a:endParaRPr lang="en-US" sz="1600" b="1" dirty="0"/>
          </a:p>
        </p:txBody>
      </p:sp>
      <p:pic>
        <p:nvPicPr>
          <p:cNvPr id="1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0400" y="35306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姓名</a:t>
            </a: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张吉鹏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60400" y="39878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 </a:t>
            </a:r>
            <a:r>
              <a:rPr lang="zh-CN" alt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班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60400" y="44450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指导教师: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康莉莉</a:t>
            </a:r>
            <a:endParaRPr lang="en-US" sz="1600" dirty="0"/>
          </a:p>
        </p:txBody>
      </p:sp>
      <p:pic>
        <p:nvPicPr>
          <p:cNvPr id="22" name="图片 21" descr="图片包含 公司名称&#10;&#10;AI 生成的内容可能不正确。">
            <a:extLst>
              <a:ext uri="{FF2B5EF4-FFF2-40B4-BE49-F238E27FC236}">
                <a16:creationId xmlns:a16="http://schemas.microsoft.com/office/drawing/2014/main" id="{76C1E78D-24C5-C3B4-6AD5-9798BA302C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167" t="18522" r="18671" b="17169"/>
          <a:stretch>
            <a:fillRect/>
          </a:stretch>
        </p:blipFill>
        <p:spPr>
          <a:xfrm>
            <a:off x="617221" y="318297"/>
            <a:ext cx="1035171" cy="10709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030" y="2847045"/>
            <a:ext cx="71793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440" y="2110445"/>
            <a:ext cx="7179310" cy="7366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3" y="1373845"/>
            <a:ext cx="7179310" cy="736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307504" y="6398827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1"/>
          <p:cNvSpPr/>
          <p:nvPr/>
        </p:nvSpPr>
        <p:spPr>
          <a:xfrm>
            <a:off x="851535" y="1043384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2"/>
          <p:cNvSpPr/>
          <p:nvPr/>
        </p:nvSpPr>
        <p:spPr>
          <a:xfrm>
            <a:off x="851535" y="1043384"/>
            <a:ext cx="14084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51535" y="1809829"/>
            <a:ext cx="266319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931545" y="1788239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/>
        </p:nvSpPr>
        <p:spPr>
          <a:xfrm>
            <a:off x="11518556" y="622046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11518556" y="622046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11448706" y="627917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8"/>
          <p:cNvSpPr/>
          <p:nvPr/>
        </p:nvSpPr>
        <p:spPr>
          <a:xfrm>
            <a:off x="11448706" y="627917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1448706" y="637615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11448706" y="63761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9" name="Image 6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744710" y="779780"/>
            <a:ext cx="2170430" cy="5689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295333" y="1422105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4136708" y="156371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3463290" y="2170770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4304665" y="228761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3611880" y="2911180"/>
            <a:ext cx="86868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4453255" y="303437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主要研究内容</a:t>
            </a:r>
            <a:endParaRPr lang="en-US" sz="1600" dirty="0"/>
          </a:p>
        </p:txBody>
      </p:sp>
      <p:pic>
        <p:nvPicPr>
          <p:cNvPr id="28" name="Image 7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614" y="4315358"/>
            <a:ext cx="7179310" cy="736600"/>
          </a:xfrm>
          <a:prstGeom prst="rect">
            <a:avLst/>
          </a:prstGeom>
        </p:spPr>
      </p:pic>
      <p:pic>
        <p:nvPicPr>
          <p:cNvPr id="29" name="Image 8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689" y="3578758"/>
            <a:ext cx="7179310" cy="736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06539" y="3642893"/>
            <a:ext cx="86868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1" name="Text 20"/>
          <p:cNvSpPr/>
          <p:nvPr/>
        </p:nvSpPr>
        <p:spPr>
          <a:xfrm>
            <a:off x="4647914" y="3766083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3968464" y="4359173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3" name="Text 22"/>
          <p:cNvSpPr/>
          <p:nvPr/>
        </p:nvSpPr>
        <p:spPr>
          <a:xfrm>
            <a:off x="4809839" y="4498873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研究进度与预期结果</a:t>
            </a:r>
            <a:endParaRPr lang="en-US" sz="1600" dirty="0"/>
          </a:p>
        </p:txBody>
      </p:sp>
      <p:pic>
        <p:nvPicPr>
          <p:cNvPr id="34" name="Image 9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587" y="5051958"/>
            <a:ext cx="7179310" cy="736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156273" y="5138004"/>
            <a:ext cx="84201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6" name="Text 24"/>
          <p:cNvSpPr/>
          <p:nvPr/>
        </p:nvSpPr>
        <p:spPr>
          <a:xfrm>
            <a:off x="4997648" y="5277704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00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871027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401128" y="32766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背景与意义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3768785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人脸表情识别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是情感计算核心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，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广泛应用于智能安防、人机交互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、在线教育、心理健康等领域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250214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DC354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867241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DC3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270341" y="32766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传统方法局限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06741" y="3924617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Haar/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LBP等方法在复杂环境下鲁棒性差，难以兼顾高精度与实时性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。</a:t>
            </a:r>
          </a:p>
        </p:txBody>
      </p:sp>
      <p:sp>
        <p:nvSpPr>
          <p:cNvPr id="12" name="Shape 9"/>
          <p:cNvSpPr/>
          <p:nvPr/>
        </p:nvSpPr>
        <p:spPr>
          <a:xfrm>
            <a:off x="8246428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9863455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393555" y="32766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本课题价值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01050" y="4038600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约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41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万条数据采用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FER2013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的规则进行训练，结合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CNN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与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YuNet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，设计PC与树莓派双平台实时系统，填补轻量化部署空白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国内外研究现状：轻量化与端侧部署成主流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867400" y="1016000"/>
            <a:ext cx="0" cy="5588000"/>
          </a:xfrm>
          <a:prstGeom prst="line">
            <a:avLst/>
          </a:prstGeom>
          <a:noFill/>
          <a:ln w="20320">
            <a:solidFill>
              <a:srgbClr val="007BFF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95300" y="12698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3159" y="118884"/>
                </a:moveTo>
                <a:lnTo>
                  <a:pt x="51554" y="137279"/>
                </a:lnTo>
                <a:cubicBezTo>
                  <a:pt x="55126" y="140851"/>
                  <a:pt x="59948" y="142875"/>
                  <a:pt x="65008" y="142875"/>
                </a:cubicBezTo>
                <a:lnTo>
                  <a:pt x="77807" y="142875"/>
                </a:lnTo>
                <a:cubicBezTo>
                  <a:pt x="82867" y="142875"/>
                  <a:pt x="87690" y="144899"/>
                  <a:pt x="91261" y="148471"/>
                </a:cubicBezTo>
                <a:lnTo>
                  <a:pt x="108704" y="165914"/>
                </a:lnTo>
                <a:cubicBezTo>
                  <a:pt x="112276" y="169485"/>
                  <a:pt x="114300" y="174308"/>
                  <a:pt x="114300" y="179368"/>
                </a:cubicBezTo>
                <a:lnTo>
                  <a:pt x="114300" y="201692"/>
                </a:lnTo>
                <a:cubicBezTo>
                  <a:pt x="114300" y="206752"/>
                  <a:pt x="116324" y="211574"/>
                  <a:pt x="119896" y="215146"/>
                </a:cubicBezTo>
                <a:lnTo>
                  <a:pt x="127814" y="223064"/>
                </a:lnTo>
                <a:cubicBezTo>
                  <a:pt x="131385" y="226635"/>
                  <a:pt x="133410" y="231458"/>
                  <a:pt x="133410" y="236518"/>
                </a:cubicBezTo>
                <a:lnTo>
                  <a:pt x="133410" y="247650"/>
                </a:lnTo>
                <a:cubicBezTo>
                  <a:pt x="133410" y="258187"/>
                  <a:pt x="141923" y="266700"/>
                  <a:pt x="152460" y="266700"/>
                </a:cubicBezTo>
                <a:cubicBezTo>
                  <a:pt x="162997" y="266700"/>
                  <a:pt x="171510" y="258187"/>
                  <a:pt x="171510" y="247650"/>
                </a:cubicBezTo>
                <a:lnTo>
                  <a:pt x="171510" y="246043"/>
                </a:lnTo>
                <a:cubicBezTo>
                  <a:pt x="171510" y="240983"/>
                  <a:pt x="173534" y="236160"/>
                  <a:pt x="177105" y="232589"/>
                </a:cubicBezTo>
                <a:lnTo>
                  <a:pt x="204073" y="205621"/>
                </a:lnTo>
                <a:cubicBezTo>
                  <a:pt x="207645" y="202049"/>
                  <a:pt x="209669" y="197227"/>
                  <a:pt x="209669" y="192167"/>
                </a:cubicBezTo>
                <a:lnTo>
                  <a:pt x="209669" y="171510"/>
                </a:lnTo>
                <a:cubicBezTo>
                  <a:pt x="209669" y="160973"/>
                  <a:pt x="201156" y="152460"/>
                  <a:pt x="190619" y="152460"/>
                </a:cubicBezTo>
                <a:lnTo>
                  <a:pt x="141387" y="152460"/>
                </a:lnTo>
                <a:cubicBezTo>
                  <a:pt x="136327" y="152460"/>
                  <a:pt x="131505" y="150435"/>
                  <a:pt x="127933" y="146864"/>
                </a:cubicBezTo>
                <a:lnTo>
                  <a:pt x="118408" y="137339"/>
                </a:lnTo>
                <a:cubicBezTo>
                  <a:pt x="115907" y="134838"/>
                  <a:pt x="114479" y="131385"/>
                  <a:pt x="114479" y="127814"/>
                </a:cubicBezTo>
                <a:cubicBezTo>
                  <a:pt x="114479" y="120372"/>
                  <a:pt x="120491" y="114360"/>
                  <a:pt x="127933" y="114360"/>
                </a:cubicBezTo>
                <a:lnTo>
                  <a:pt x="148590" y="114360"/>
                </a:lnTo>
                <a:cubicBezTo>
                  <a:pt x="156031" y="114360"/>
                  <a:pt x="162044" y="108347"/>
                  <a:pt x="162044" y="100905"/>
                </a:cubicBezTo>
                <a:cubicBezTo>
                  <a:pt x="162044" y="97334"/>
                  <a:pt x="160615" y="93881"/>
                  <a:pt x="158115" y="91380"/>
                </a:cubicBezTo>
                <a:lnTo>
                  <a:pt x="146387" y="79653"/>
                </a:lnTo>
                <a:cubicBezTo>
                  <a:pt x="144066" y="77391"/>
                  <a:pt x="142875" y="74474"/>
                  <a:pt x="142875" y="71438"/>
                </a:cubicBezTo>
                <a:cubicBezTo>
                  <a:pt x="142875" y="68401"/>
                  <a:pt x="144066" y="65484"/>
                  <a:pt x="146268" y="63282"/>
                </a:cubicBezTo>
                <a:lnTo>
                  <a:pt x="156567" y="52983"/>
                </a:lnTo>
                <a:cubicBezTo>
                  <a:pt x="160020" y="49530"/>
                  <a:pt x="161985" y="44827"/>
                  <a:pt x="161985" y="39945"/>
                </a:cubicBezTo>
                <a:cubicBezTo>
                  <a:pt x="161985" y="35659"/>
                  <a:pt x="160556" y="31790"/>
                  <a:pt x="158175" y="28694"/>
                </a:cubicBezTo>
                <a:cubicBezTo>
                  <a:pt x="156270" y="28635"/>
                  <a:pt x="154365" y="28575"/>
                  <a:pt x="152460" y="28575"/>
                </a:cubicBezTo>
                <a:cubicBezTo>
                  <a:pt x="95667" y="28575"/>
                  <a:pt x="47863" y="66794"/>
                  <a:pt x="33218" y="118884"/>
                </a:cubicBezTo>
                <a:close/>
                <a:moveTo>
                  <a:pt x="276225" y="152400"/>
                </a:moveTo>
                <a:cubicBezTo>
                  <a:pt x="276225" y="131802"/>
                  <a:pt x="271224" y="112395"/>
                  <a:pt x="262295" y="95369"/>
                </a:cubicBezTo>
                <a:cubicBezTo>
                  <a:pt x="258485" y="95905"/>
                  <a:pt x="254734" y="97691"/>
                  <a:pt x="251639" y="100786"/>
                </a:cubicBezTo>
                <a:lnTo>
                  <a:pt x="243661" y="108764"/>
                </a:lnTo>
                <a:cubicBezTo>
                  <a:pt x="240090" y="112335"/>
                  <a:pt x="238065" y="117157"/>
                  <a:pt x="238065" y="122218"/>
                </a:cubicBezTo>
                <a:lnTo>
                  <a:pt x="238065" y="142875"/>
                </a:lnTo>
                <a:cubicBezTo>
                  <a:pt x="238065" y="153412"/>
                  <a:pt x="246578" y="161925"/>
                  <a:pt x="257115" y="161925"/>
                </a:cubicBezTo>
                <a:lnTo>
                  <a:pt x="271463" y="161925"/>
                </a:lnTo>
                <a:cubicBezTo>
                  <a:pt x="272951" y="161925"/>
                  <a:pt x="274439" y="161746"/>
                  <a:pt x="275808" y="161449"/>
                </a:cubicBezTo>
                <a:cubicBezTo>
                  <a:pt x="276046" y="158472"/>
                  <a:pt x="276106" y="155436"/>
                  <a:pt x="276106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990600" y="12192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国外研究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5282" y="2819400"/>
            <a:ext cx="53086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技术趋势：从传统人工特征方法转向 </a:t>
            </a:r>
            <a:r>
              <a:rPr lang="en-US" altLang="zh-CN" dirty="0"/>
              <a:t>CNN </a:t>
            </a:r>
            <a:r>
              <a:rPr lang="zh-CN" altLang="en-US" dirty="0"/>
              <a:t>完全主导，追求更高的识别精度。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轻量化模型：例如 </a:t>
            </a:r>
            <a:r>
              <a:rPr lang="en-US" altLang="zh-CN" dirty="0"/>
              <a:t>MobileNetV3 </a:t>
            </a:r>
            <a:r>
              <a:rPr lang="zh-CN" altLang="en-US" dirty="0"/>
              <a:t>及其变体被用于 </a:t>
            </a:r>
            <a:r>
              <a:rPr lang="en-US" altLang="zh-CN" dirty="0"/>
              <a:t>FER </a:t>
            </a:r>
            <a:r>
              <a:rPr lang="zh-CN" altLang="en-US" dirty="0"/>
              <a:t>任务，以适应移动端／边缘设备推理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特征增强：引入注意力机制（如 </a:t>
            </a:r>
            <a:r>
              <a:rPr lang="en-US" altLang="zh-CN" dirty="0"/>
              <a:t>Coordinate Attention</a:t>
            </a:r>
            <a:r>
              <a:rPr lang="zh-CN" altLang="en-US" dirty="0"/>
              <a:t>）、动态核适应 </a:t>
            </a:r>
            <a:r>
              <a:rPr lang="en-US" altLang="zh-CN" dirty="0"/>
              <a:t>(Dynamic Kernel Adaptation) </a:t>
            </a:r>
            <a:r>
              <a:rPr lang="zh-CN" altLang="en-US" dirty="0"/>
              <a:t>等，以提升模型对关键面部区域（眉、眼、嘴）特征的提取能力。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发展方向：强调轻量化、在线实时、多模态融合（例如结合视频流、动作、表情）及实际部署场景的适应性。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540818" y="12698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766" y="169545"/>
                </a:moveTo>
                <a:cubicBezTo>
                  <a:pt x="32266" y="170795"/>
                  <a:pt x="35123" y="171450"/>
                  <a:pt x="38100" y="171450"/>
                </a:cubicBezTo>
                <a:lnTo>
                  <a:pt x="68282" y="171450"/>
                </a:lnTo>
                <a:cubicBezTo>
                  <a:pt x="73343" y="171450"/>
                  <a:pt x="78165" y="173474"/>
                  <a:pt x="81736" y="177046"/>
                </a:cubicBezTo>
                <a:lnTo>
                  <a:pt x="89654" y="184964"/>
                </a:lnTo>
                <a:cubicBezTo>
                  <a:pt x="93226" y="188535"/>
                  <a:pt x="98048" y="190560"/>
                  <a:pt x="103108" y="190560"/>
                </a:cubicBezTo>
                <a:lnTo>
                  <a:pt x="114240" y="190560"/>
                </a:lnTo>
                <a:cubicBezTo>
                  <a:pt x="124777" y="190560"/>
                  <a:pt x="133290" y="182047"/>
                  <a:pt x="133290" y="171510"/>
                </a:cubicBezTo>
                <a:lnTo>
                  <a:pt x="133290" y="147697"/>
                </a:lnTo>
                <a:cubicBezTo>
                  <a:pt x="133290" y="139779"/>
                  <a:pt x="139660" y="133410"/>
                  <a:pt x="147578" y="133410"/>
                </a:cubicBezTo>
                <a:cubicBezTo>
                  <a:pt x="155496" y="133410"/>
                  <a:pt x="161865" y="127040"/>
                  <a:pt x="161865" y="119122"/>
                </a:cubicBezTo>
                <a:lnTo>
                  <a:pt x="161865" y="93702"/>
                </a:lnTo>
                <a:cubicBezTo>
                  <a:pt x="161865" y="88642"/>
                  <a:pt x="163890" y="83820"/>
                  <a:pt x="167461" y="80248"/>
                </a:cubicBezTo>
                <a:lnTo>
                  <a:pt x="175379" y="72330"/>
                </a:lnTo>
                <a:cubicBezTo>
                  <a:pt x="178951" y="68759"/>
                  <a:pt x="180975" y="63937"/>
                  <a:pt x="180975" y="58876"/>
                </a:cubicBezTo>
                <a:lnTo>
                  <a:pt x="180975" y="33933"/>
                </a:lnTo>
                <a:cubicBezTo>
                  <a:pt x="180975" y="33218"/>
                  <a:pt x="180915" y="32564"/>
                  <a:pt x="180856" y="31849"/>
                </a:cubicBezTo>
                <a:cubicBezTo>
                  <a:pt x="171688" y="29706"/>
                  <a:pt x="162163" y="28575"/>
                  <a:pt x="152400" y="28575"/>
                </a:cubicBezTo>
                <a:cubicBezTo>
                  <a:pt x="83999" y="28575"/>
                  <a:pt x="28575" y="83999"/>
                  <a:pt x="28575" y="152400"/>
                </a:cubicBezTo>
                <a:cubicBezTo>
                  <a:pt x="28575" y="158234"/>
                  <a:pt x="28992" y="163949"/>
                  <a:pt x="29766" y="169545"/>
                </a:cubicBezTo>
                <a:close/>
                <a:moveTo>
                  <a:pt x="269855" y="191750"/>
                </a:moveTo>
                <a:cubicBezTo>
                  <a:pt x="267950" y="190917"/>
                  <a:pt x="265867" y="190500"/>
                  <a:pt x="263604" y="190500"/>
                </a:cubicBezTo>
                <a:lnTo>
                  <a:pt x="257175" y="190500"/>
                </a:lnTo>
                <a:cubicBezTo>
                  <a:pt x="251936" y="190500"/>
                  <a:pt x="247650" y="186214"/>
                  <a:pt x="247650" y="180975"/>
                </a:cubicBezTo>
                <a:cubicBezTo>
                  <a:pt x="247650" y="175736"/>
                  <a:pt x="243364" y="171450"/>
                  <a:pt x="238125" y="171450"/>
                </a:cubicBezTo>
                <a:lnTo>
                  <a:pt x="217468" y="171450"/>
                </a:lnTo>
                <a:cubicBezTo>
                  <a:pt x="212408" y="171450"/>
                  <a:pt x="207585" y="173474"/>
                  <a:pt x="204014" y="177046"/>
                </a:cubicBezTo>
                <a:lnTo>
                  <a:pt x="177046" y="204014"/>
                </a:lnTo>
                <a:cubicBezTo>
                  <a:pt x="173474" y="207585"/>
                  <a:pt x="171450" y="212408"/>
                  <a:pt x="171450" y="217468"/>
                </a:cubicBezTo>
                <a:lnTo>
                  <a:pt x="171450" y="228600"/>
                </a:lnTo>
                <a:cubicBezTo>
                  <a:pt x="171450" y="239137"/>
                  <a:pt x="179963" y="247650"/>
                  <a:pt x="190500" y="247650"/>
                </a:cubicBezTo>
                <a:lnTo>
                  <a:pt x="201632" y="247650"/>
                </a:lnTo>
                <a:cubicBezTo>
                  <a:pt x="206692" y="247650"/>
                  <a:pt x="211515" y="249674"/>
                  <a:pt x="215086" y="253246"/>
                </a:cubicBezTo>
                <a:cubicBezTo>
                  <a:pt x="216396" y="254556"/>
                  <a:pt x="217884" y="255687"/>
                  <a:pt x="219432" y="256520"/>
                </a:cubicBezTo>
                <a:cubicBezTo>
                  <a:pt x="242828" y="241399"/>
                  <a:pt x="260806" y="218658"/>
                  <a:pt x="269796" y="19175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76200" y="219075"/>
                </a:moveTo>
                <a:cubicBezTo>
                  <a:pt x="76200" y="224314"/>
                  <a:pt x="80486" y="228600"/>
                  <a:pt x="85725" y="228600"/>
                </a:cubicBezTo>
                <a:lnTo>
                  <a:pt x="104775" y="228600"/>
                </a:lnTo>
                <a:cubicBezTo>
                  <a:pt x="110014" y="228600"/>
                  <a:pt x="114300" y="224314"/>
                  <a:pt x="114300" y="219075"/>
                </a:cubicBezTo>
                <a:cubicBezTo>
                  <a:pt x="114300" y="213836"/>
                  <a:pt x="110014" y="209550"/>
                  <a:pt x="104775" y="209550"/>
                </a:cubicBezTo>
                <a:lnTo>
                  <a:pt x="85725" y="209550"/>
                </a:lnTo>
                <a:cubicBezTo>
                  <a:pt x="80486" y="209550"/>
                  <a:pt x="76200" y="213836"/>
                  <a:pt x="76200" y="219075"/>
                </a:cubicBezTo>
                <a:close/>
                <a:moveTo>
                  <a:pt x="161925" y="152400"/>
                </a:moveTo>
                <a:cubicBezTo>
                  <a:pt x="156686" y="152400"/>
                  <a:pt x="152400" y="156686"/>
                  <a:pt x="152400" y="161925"/>
                </a:cubicBezTo>
                <a:lnTo>
                  <a:pt x="152400" y="180975"/>
                </a:lnTo>
                <a:cubicBezTo>
                  <a:pt x="152400" y="186214"/>
                  <a:pt x="156686" y="190500"/>
                  <a:pt x="161925" y="190500"/>
                </a:cubicBezTo>
                <a:cubicBezTo>
                  <a:pt x="167164" y="190500"/>
                  <a:pt x="171450" y="186214"/>
                  <a:pt x="171450" y="180975"/>
                </a:cubicBezTo>
                <a:lnTo>
                  <a:pt x="171450" y="161925"/>
                </a:lnTo>
                <a:cubicBezTo>
                  <a:pt x="171450" y="156686"/>
                  <a:pt x="167164" y="152400"/>
                  <a:pt x="161925" y="152400"/>
                </a:cubicBezTo>
                <a:close/>
                <a:moveTo>
                  <a:pt x="190500" y="85725"/>
                </a:moveTo>
                <a:lnTo>
                  <a:pt x="190500" y="104775"/>
                </a:lnTo>
                <a:cubicBezTo>
                  <a:pt x="190500" y="110014"/>
                  <a:pt x="194786" y="114300"/>
                  <a:pt x="200025" y="114300"/>
                </a:cubicBezTo>
                <a:cubicBezTo>
                  <a:pt x="205264" y="114300"/>
                  <a:pt x="209550" y="110014"/>
                  <a:pt x="209550" y="104775"/>
                </a:cubicBezTo>
                <a:lnTo>
                  <a:pt x="209550" y="85725"/>
                </a:lnTo>
                <a:cubicBezTo>
                  <a:pt x="209550" y="80486"/>
                  <a:pt x="205264" y="76200"/>
                  <a:pt x="200025" y="76200"/>
                </a:cubicBezTo>
                <a:cubicBezTo>
                  <a:pt x="194786" y="76200"/>
                  <a:pt x="190500" y="80486"/>
                  <a:pt x="190500" y="85725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036118" y="12192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国内研究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24601" y="2376577"/>
            <a:ext cx="5334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技术趋势：国内研究更多聚焦于模型压缩与加速，如网络剪枝、重参数化、轻量化骨干网络。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模型优化：在轻量网络基础上加入多尺度卷积、注意力机制、对齐预处理等，以增强模型对复杂表情变化和干扰（姿态、遮挡、光照）的鲁棒性。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应用场景：智慧课堂、客服机器人、嵌入式视觉系统等场景率先落地，强调工程化与端侧部署（例如树莓派、边缘设备）适配。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发展方向：侧重于端侧部署、人脸检测</a:t>
            </a:r>
            <a:r>
              <a:rPr lang="en-US" altLang="zh-CN" dirty="0"/>
              <a:t>+</a:t>
            </a:r>
            <a:r>
              <a:rPr lang="zh-CN" altLang="en-US" dirty="0"/>
              <a:t>识别融合、移动</a:t>
            </a:r>
            <a:r>
              <a:rPr lang="en-US" altLang="zh-CN" dirty="0"/>
              <a:t>/</a:t>
            </a:r>
            <a:r>
              <a:rPr lang="zh-CN" altLang="en-US" dirty="0"/>
              <a:t>嵌入式设备上的实时系统实现。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21" name="图片 20" descr="手机截图图男人的照片上写着字&#10;&#10;AI 生成的内容可能不正确。">
            <a:extLst>
              <a:ext uri="{FF2B5EF4-FFF2-40B4-BE49-F238E27FC236}">
                <a16:creationId xmlns:a16="http://schemas.microsoft.com/office/drawing/2014/main" id="{A754038B-31EE-606D-7F09-E3BE1097894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1751390"/>
            <a:ext cx="3206151" cy="1916829"/>
          </a:xfrm>
          <a:prstGeom prst="rect">
            <a:avLst/>
          </a:prstGeom>
        </p:spPr>
      </p:pic>
      <p:pic>
        <p:nvPicPr>
          <p:cNvPr id="23" name="图片 22" descr="图示&#10;&#10;AI 生成的内容可能不正确。">
            <a:extLst>
              <a:ext uri="{FF2B5EF4-FFF2-40B4-BE49-F238E27FC236}">
                <a16:creationId xmlns:a16="http://schemas.microsoft.com/office/drawing/2014/main" id="{84C6EF4C-2E00-1CFE-328E-3D443E7875F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2990" y="4715215"/>
            <a:ext cx="3581400" cy="18193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代表性研究：MobileNetV3与</a:t>
            </a:r>
            <a:r>
              <a:rPr lang="en-US" altLang="zh-CN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YuNet</a:t>
            </a: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双轮驱动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914400"/>
            <a:ext cx="3759200" cy="5689600"/>
          </a:xfrm>
          <a:custGeom>
            <a:avLst/>
            <a:gdLst/>
            <a:ahLst/>
            <a:cxnLst/>
            <a:rect l="l" t="t" r="r" b="b"/>
            <a:pathLst>
              <a:path w="3759200" h="56896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587989"/>
                </a:lnTo>
                <a:cubicBezTo>
                  <a:pt x="3759200" y="5644107"/>
                  <a:pt x="3713707" y="5689600"/>
                  <a:pt x="3657589" y="5689600"/>
                </a:cubicBezTo>
                <a:lnTo>
                  <a:pt x="101611" y="5689600"/>
                </a:lnTo>
                <a:cubicBezTo>
                  <a:pt x="45493" y="5689600"/>
                  <a:pt x="0" y="5644107"/>
                  <a:pt x="0" y="55879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572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MobileNetV3 [5]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5600" y="1477234"/>
            <a:ext cx="3581400" cy="328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提出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架构：将硬件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感知的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NAS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（网络结构搜索）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+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NetAdapt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算法结合起来，设计出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和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V3-Small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两个版本。 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ImageNet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分类上，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比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V2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提升 ≈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3.2%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准确率，延迟降低 ≈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20%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。检测任务上，使用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检测比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MobileNetV2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快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25%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6250" y="6321811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Howard et al., ICCV 2019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16400" y="914400"/>
            <a:ext cx="3759200" cy="2743200"/>
          </a:xfrm>
          <a:custGeom>
            <a:avLst/>
            <a:gdLst/>
            <a:ahLst/>
            <a:cxnLst/>
            <a:rect l="l" t="t" r="r" b="b"/>
            <a:pathLst>
              <a:path w="3759200" h="27432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641592"/>
                </a:lnTo>
                <a:cubicBezTo>
                  <a:pt x="3759200" y="2697708"/>
                  <a:pt x="3713708" y="2743200"/>
                  <a:pt x="3657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4196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ArcFace</a:t>
            </a: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[8]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00550" y="2235200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虽然主要用于人脸识别（身份）任务，但其提出的 “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additive angular margin loss”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大大增强特征判别性，在人脸识别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表情识别任务中也常被借用。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43400" y="32512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Deng et al., CVPR 2019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78800" y="924786"/>
            <a:ext cx="3759200" cy="2743200"/>
          </a:xfrm>
          <a:custGeom>
            <a:avLst/>
            <a:gdLst/>
            <a:ahLst/>
            <a:cxnLst/>
            <a:rect l="l" t="t" r="r" b="b"/>
            <a:pathLst>
              <a:path w="3759200" h="27432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641592"/>
                </a:lnTo>
                <a:cubicBezTo>
                  <a:pt x="3759200" y="2697708"/>
                  <a:pt x="3713708" y="2743200"/>
                  <a:pt x="3657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10"/>
          <p:cNvSpPr/>
          <p:nvPr/>
        </p:nvSpPr>
        <p:spPr>
          <a:xfrm>
            <a:off x="84074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YuNet [9]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07400" y="1477234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毫秒级轻量级人脸检测器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1498466" y="1530037"/>
            <a:ext cx="300966" cy="1892081"/>
          </a:xfrm>
          <a:prstGeom prst="rect">
            <a:avLst/>
          </a:prstGeom>
          <a:noFill/>
          <a:ln/>
        </p:spPr>
        <p:txBody>
          <a:bodyPr vert="eaVert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al., MIR 2023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16400" y="3810000"/>
            <a:ext cx="7721600" cy="2743200"/>
          </a:xfrm>
          <a:custGeom>
            <a:avLst/>
            <a:gdLst/>
            <a:ahLst/>
            <a:cxnLst/>
            <a:rect l="l" t="t" r="r" b="b"/>
            <a:pathLst>
              <a:path w="7721600" h="2743200">
                <a:moveTo>
                  <a:pt x="101608" y="0"/>
                </a:moveTo>
                <a:lnTo>
                  <a:pt x="7619992" y="0"/>
                </a:lnTo>
                <a:cubicBezTo>
                  <a:pt x="7676108" y="0"/>
                  <a:pt x="7721600" y="45492"/>
                  <a:pt x="7721600" y="101608"/>
                </a:cubicBezTo>
                <a:lnTo>
                  <a:pt x="7721600" y="2641592"/>
                </a:lnTo>
                <a:cubicBezTo>
                  <a:pt x="7721600" y="2697708"/>
                  <a:pt x="7676108" y="2743200"/>
                  <a:pt x="76199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419600" y="4062004"/>
            <a:ext cx="608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</a:t>
            </a:r>
            <a:r>
              <a:rPr lang="zh-CN" alt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视频表情识别</a:t>
            </a:r>
            <a:r>
              <a:rPr lang="en-US" altLang="zh-CN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[4]</a:t>
            </a:r>
            <a:endParaRPr lang="en-US" b="1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45000" y="4742891"/>
            <a:ext cx="7354432" cy="107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国内在“视频表情识别”方向研究，使用面部运动单元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(Facial Action Units, AU)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加时序注意力机制处理连续帧视频来识别情绪。说明表情识别不仅依靠静态图像，也往往依赖时间序列特征。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741535" y="6096000"/>
            <a:ext cx="20639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zh-CN" alt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</a:rPr>
              <a:t>胡敏、胡鹏远 等</a:t>
            </a:r>
            <a:r>
              <a:rPr lang="en-US" altLang="zh-CN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</a:rPr>
              <a:t>, 2023</a:t>
            </a:r>
            <a:endParaRPr lang="en-US" sz="1400" dirty="0">
              <a:solidFill>
                <a:srgbClr val="6A7282"/>
              </a:solidFill>
              <a:latin typeface="Noto Sans SC" pitchFamily="34" charset="0"/>
              <a:ea typeface="Noto Sans SC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主要研究内容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2"/>
            <a:ext cx="12192000" cy="6858635"/>
          </a:xfrm>
          <a:prstGeom prst="rect">
            <a:avLst/>
          </a:prstGeom>
        </p:spPr>
      </p:pic>
      <p:sp>
        <p:nvSpPr>
          <p:cNvPr id="45" name="Shape 13">
            <a:extLst>
              <a:ext uri="{FF2B5EF4-FFF2-40B4-BE49-F238E27FC236}">
                <a16:creationId xmlns:a16="http://schemas.microsoft.com/office/drawing/2014/main" id="{B800C809-E538-92CD-342A-078965D24634}"/>
              </a:ext>
            </a:extLst>
          </p:cNvPr>
          <p:cNvSpPr/>
          <p:nvPr/>
        </p:nvSpPr>
        <p:spPr>
          <a:xfrm>
            <a:off x="6700294" y="947947"/>
            <a:ext cx="4093212" cy="5656053"/>
          </a:xfrm>
          <a:custGeom>
            <a:avLst/>
            <a:gdLst/>
            <a:ahLst/>
            <a:cxnLst/>
            <a:rect l="l" t="t" r="r" b="b"/>
            <a:pathLst>
              <a:path w="7581900" h="863600">
                <a:moveTo>
                  <a:pt x="101603" y="0"/>
                </a:moveTo>
                <a:lnTo>
                  <a:pt x="7480297" y="0"/>
                </a:lnTo>
                <a:cubicBezTo>
                  <a:pt x="7536411" y="0"/>
                  <a:pt x="7581900" y="45489"/>
                  <a:pt x="7581900" y="101603"/>
                </a:cubicBezTo>
                <a:lnTo>
                  <a:pt x="7581900" y="761997"/>
                </a:lnTo>
                <a:cubicBezTo>
                  <a:pt x="7581900" y="818111"/>
                  <a:pt x="7536411" y="863600"/>
                  <a:pt x="74802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E85A529E-7004-2C94-4634-F8D201DE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94" y="947948"/>
            <a:ext cx="4093211" cy="56560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系统五层架构：从硬件到</a:t>
            </a:r>
            <a:r>
              <a:rPr lang="zh-CN" alt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最终</a:t>
            </a: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</a:t>
            </a:r>
            <a:endParaRPr lang="en-US" sz="16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7BFBA19-130E-7FB1-FBDE-0D3BCD739048}"/>
              </a:ext>
            </a:extLst>
          </p:cNvPr>
          <p:cNvGrpSpPr/>
          <p:nvPr/>
        </p:nvGrpSpPr>
        <p:grpSpPr>
          <a:xfrm>
            <a:off x="540286" y="5283200"/>
            <a:ext cx="5555714" cy="863600"/>
            <a:chOff x="540286" y="1422400"/>
            <a:chExt cx="7581900" cy="863600"/>
          </a:xfrm>
        </p:grpSpPr>
        <p:sp>
          <p:nvSpPr>
            <p:cNvPr id="4" name="Shape 1"/>
            <p:cNvSpPr/>
            <p:nvPr/>
          </p:nvSpPr>
          <p:spPr>
            <a:xfrm>
              <a:off x="540286" y="14224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830745" y="17018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19050"/>
                  </a:moveTo>
                  <a:cubicBezTo>
                    <a:pt x="17085" y="19050"/>
                    <a:pt x="0" y="36135"/>
                    <a:pt x="0" y="57150"/>
                  </a:cubicBezTo>
                  <a:lnTo>
                    <a:pt x="0" y="209550"/>
                  </a:lnTo>
                  <a:cubicBezTo>
                    <a:pt x="0" y="230565"/>
                    <a:pt x="17085" y="247650"/>
                    <a:pt x="38100" y="247650"/>
                  </a:cubicBezTo>
                  <a:lnTo>
                    <a:pt x="123825" y="247650"/>
                  </a:lnTo>
                  <a:lnTo>
                    <a:pt x="114300" y="276225"/>
                  </a:lnTo>
                  <a:lnTo>
                    <a:pt x="71438" y="276225"/>
                  </a:lnTo>
                  <a:cubicBezTo>
                    <a:pt x="63520" y="276225"/>
                    <a:pt x="57150" y="282595"/>
                    <a:pt x="57150" y="290513"/>
                  </a:cubicBezTo>
                  <a:cubicBezTo>
                    <a:pt x="57150" y="298430"/>
                    <a:pt x="63520" y="304800"/>
                    <a:pt x="71438" y="304800"/>
                  </a:cubicBezTo>
                  <a:lnTo>
                    <a:pt x="233363" y="304800"/>
                  </a:lnTo>
                  <a:cubicBezTo>
                    <a:pt x="241280" y="304800"/>
                    <a:pt x="247650" y="298430"/>
                    <a:pt x="247650" y="290513"/>
                  </a:cubicBezTo>
                  <a:cubicBezTo>
                    <a:pt x="247650" y="282595"/>
                    <a:pt x="241280" y="276225"/>
                    <a:pt x="233363" y="276225"/>
                  </a:cubicBezTo>
                  <a:lnTo>
                    <a:pt x="190500" y="276225"/>
                  </a:lnTo>
                  <a:lnTo>
                    <a:pt x="180975" y="247650"/>
                  </a:lnTo>
                  <a:lnTo>
                    <a:pt x="266700" y="247650"/>
                  </a:lnTo>
                  <a:cubicBezTo>
                    <a:pt x="287715" y="247650"/>
                    <a:pt x="304800" y="230565"/>
                    <a:pt x="304800" y="209550"/>
                  </a:cubicBezTo>
                  <a:lnTo>
                    <a:pt x="304800" y="57150"/>
                  </a:lnTo>
                  <a:cubicBezTo>
                    <a:pt x="304800" y="36135"/>
                    <a:pt x="287715" y="19050"/>
                    <a:pt x="266700" y="19050"/>
                  </a:cubicBezTo>
                  <a:lnTo>
                    <a:pt x="38100" y="19050"/>
                  </a:lnTo>
                  <a:close/>
                  <a:moveTo>
                    <a:pt x="57150" y="57150"/>
                  </a:moveTo>
                  <a:lnTo>
                    <a:pt x="247650" y="57150"/>
                  </a:lnTo>
                  <a:cubicBezTo>
                    <a:pt x="258187" y="57150"/>
                    <a:pt x="266700" y="65663"/>
                    <a:pt x="266700" y="76200"/>
                  </a:cubicBezTo>
                  <a:lnTo>
                    <a:pt x="266700" y="171450"/>
                  </a:lnTo>
                  <a:cubicBezTo>
                    <a:pt x="266700" y="181987"/>
                    <a:pt x="258187" y="190500"/>
                    <a:pt x="247650" y="190500"/>
                  </a:cubicBezTo>
                  <a:lnTo>
                    <a:pt x="57150" y="190500"/>
                  </a:lnTo>
                  <a:cubicBezTo>
                    <a:pt x="46613" y="190500"/>
                    <a:pt x="38100" y="181987"/>
                    <a:pt x="38100" y="171450"/>
                  </a:cubicBezTo>
                  <a:lnTo>
                    <a:pt x="38100" y="76200"/>
                  </a:lnTo>
                  <a:cubicBezTo>
                    <a:pt x="38100" y="65663"/>
                    <a:pt x="46613" y="57150"/>
                    <a:pt x="57150" y="57150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1454686" y="1574800"/>
              <a:ext cx="3403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硬件层</a:t>
              </a:r>
              <a:endParaRPr lang="en-US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454686" y="1879600"/>
              <a:ext cx="5998698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RTX3060主机, 树莓派5, H052-8614摄像头等</a:t>
              </a:r>
              <a:endParaRPr lang="en-US" sz="16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B94E57A-752B-9CBF-2BBE-5991EBC4195A}"/>
              </a:ext>
            </a:extLst>
          </p:cNvPr>
          <p:cNvGrpSpPr/>
          <p:nvPr/>
        </p:nvGrpSpPr>
        <p:grpSpPr>
          <a:xfrm>
            <a:off x="529338" y="4318000"/>
            <a:ext cx="5566662" cy="863600"/>
            <a:chOff x="540286" y="2387600"/>
            <a:chExt cx="7581900" cy="863600"/>
          </a:xfrm>
        </p:grpSpPr>
        <p:sp>
          <p:nvSpPr>
            <p:cNvPr id="8" name="Shape 5"/>
            <p:cNvSpPr/>
            <p:nvPr/>
          </p:nvSpPr>
          <p:spPr>
            <a:xfrm>
              <a:off x="540286" y="23876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845085" y="2667000"/>
              <a:ext cx="423164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38410" y="3096"/>
                  </a:moveTo>
                  <a:cubicBezTo>
                    <a:pt x="147280" y="-1012"/>
                    <a:pt x="157520" y="-1012"/>
                    <a:pt x="166390" y="3096"/>
                  </a:cubicBezTo>
                  <a:lnTo>
                    <a:pt x="296525" y="63222"/>
                  </a:lnTo>
                  <a:cubicBezTo>
                    <a:pt x="301585" y="65544"/>
                    <a:pt x="304800" y="70604"/>
                    <a:pt x="304800" y="76200"/>
                  </a:cubicBezTo>
                  <a:cubicBezTo>
                    <a:pt x="304800" y="81796"/>
                    <a:pt x="301585" y="86856"/>
                    <a:pt x="296525" y="89178"/>
                  </a:cubicBezTo>
                  <a:lnTo>
                    <a:pt x="166390" y="149304"/>
                  </a:lnTo>
                  <a:cubicBezTo>
                    <a:pt x="157520" y="153412"/>
                    <a:pt x="147280" y="153412"/>
                    <a:pt x="138410" y="149304"/>
                  </a:cubicBezTo>
                  <a:lnTo>
                    <a:pt x="8275" y="89178"/>
                  </a:lnTo>
                  <a:cubicBezTo>
                    <a:pt x="3215" y="86797"/>
                    <a:pt x="0" y="81736"/>
                    <a:pt x="0" y="76200"/>
                  </a:cubicBezTo>
                  <a:cubicBezTo>
                    <a:pt x="0" y="70664"/>
                    <a:pt x="3215" y="65544"/>
                    <a:pt x="8275" y="63222"/>
                  </a:cubicBezTo>
                  <a:lnTo>
                    <a:pt x="138410" y="3096"/>
                  </a:lnTo>
                  <a:close/>
                  <a:moveTo>
                    <a:pt x="28635" y="130016"/>
                  </a:moveTo>
                  <a:lnTo>
                    <a:pt x="126444" y="175200"/>
                  </a:lnTo>
                  <a:cubicBezTo>
                    <a:pt x="142935" y="182820"/>
                    <a:pt x="161925" y="182820"/>
                    <a:pt x="178415" y="175200"/>
                  </a:cubicBezTo>
                  <a:lnTo>
                    <a:pt x="276225" y="130016"/>
                  </a:lnTo>
                  <a:lnTo>
                    <a:pt x="296525" y="139422"/>
                  </a:lnTo>
                  <a:cubicBezTo>
                    <a:pt x="301585" y="141744"/>
                    <a:pt x="304800" y="146804"/>
                    <a:pt x="304800" y="152400"/>
                  </a:cubicBezTo>
                  <a:cubicBezTo>
                    <a:pt x="304800" y="157996"/>
                    <a:pt x="301585" y="163056"/>
                    <a:pt x="296525" y="165378"/>
                  </a:cubicBezTo>
                  <a:lnTo>
                    <a:pt x="166390" y="225504"/>
                  </a:lnTo>
                  <a:cubicBezTo>
                    <a:pt x="157520" y="229612"/>
                    <a:pt x="147280" y="229612"/>
                    <a:pt x="138410" y="225504"/>
                  </a:cubicBezTo>
                  <a:lnTo>
                    <a:pt x="8275" y="165378"/>
                  </a:lnTo>
                  <a:cubicBezTo>
                    <a:pt x="3215" y="162997"/>
                    <a:pt x="0" y="157936"/>
                    <a:pt x="0" y="152400"/>
                  </a:cubicBezTo>
                  <a:cubicBezTo>
                    <a:pt x="0" y="146864"/>
                    <a:pt x="3215" y="141744"/>
                    <a:pt x="8275" y="139422"/>
                  </a:cubicBezTo>
                  <a:lnTo>
                    <a:pt x="28575" y="130016"/>
                  </a:lnTo>
                  <a:close/>
                  <a:moveTo>
                    <a:pt x="8275" y="215622"/>
                  </a:moveTo>
                  <a:lnTo>
                    <a:pt x="28575" y="206216"/>
                  </a:lnTo>
                  <a:lnTo>
                    <a:pt x="126385" y="251400"/>
                  </a:lnTo>
                  <a:cubicBezTo>
                    <a:pt x="142875" y="259020"/>
                    <a:pt x="161865" y="259020"/>
                    <a:pt x="178356" y="251400"/>
                  </a:cubicBezTo>
                  <a:lnTo>
                    <a:pt x="276165" y="206216"/>
                  </a:lnTo>
                  <a:lnTo>
                    <a:pt x="296466" y="215622"/>
                  </a:lnTo>
                  <a:cubicBezTo>
                    <a:pt x="301526" y="217944"/>
                    <a:pt x="304740" y="223004"/>
                    <a:pt x="304740" y="228600"/>
                  </a:cubicBezTo>
                  <a:cubicBezTo>
                    <a:pt x="304740" y="234196"/>
                    <a:pt x="301526" y="239256"/>
                    <a:pt x="296466" y="241578"/>
                  </a:cubicBezTo>
                  <a:lnTo>
                    <a:pt x="166330" y="301704"/>
                  </a:lnTo>
                  <a:cubicBezTo>
                    <a:pt x="157460" y="305812"/>
                    <a:pt x="147221" y="305812"/>
                    <a:pt x="138351" y="301704"/>
                  </a:cubicBezTo>
                  <a:lnTo>
                    <a:pt x="8275" y="241578"/>
                  </a:lnTo>
                  <a:cubicBezTo>
                    <a:pt x="3215" y="239197"/>
                    <a:pt x="0" y="234136"/>
                    <a:pt x="0" y="228600"/>
                  </a:cubicBezTo>
                  <a:cubicBezTo>
                    <a:pt x="0" y="223064"/>
                    <a:pt x="3215" y="217944"/>
                    <a:pt x="8275" y="215622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454686" y="2540000"/>
              <a:ext cx="294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数据层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454686" y="2844800"/>
              <a:ext cx="5682552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FER2013数据集, 数据增强, 标签管理</a:t>
              </a:r>
              <a:endParaRPr lang="en-US" sz="16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2C4A363-A3C1-CCB8-A006-912B3AA610DB}"/>
              </a:ext>
            </a:extLst>
          </p:cNvPr>
          <p:cNvGrpSpPr/>
          <p:nvPr/>
        </p:nvGrpSpPr>
        <p:grpSpPr>
          <a:xfrm>
            <a:off x="540286" y="3352800"/>
            <a:ext cx="5555714" cy="863600"/>
            <a:chOff x="540286" y="3352800"/>
            <a:chExt cx="7581900" cy="863600"/>
          </a:xfrm>
        </p:grpSpPr>
        <p:sp>
          <p:nvSpPr>
            <p:cNvPr id="12" name="Shape 9"/>
            <p:cNvSpPr/>
            <p:nvPr/>
          </p:nvSpPr>
          <p:spPr>
            <a:xfrm>
              <a:off x="540286" y="33528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830745" y="36322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1438" y="33338"/>
                  </a:moveTo>
                  <a:cubicBezTo>
                    <a:pt x="71438" y="14942"/>
                    <a:pt x="86380" y="0"/>
                    <a:pt x="104775" y="0"/>
                  </a:cubicBezTo>
                  <a:lnTo>
                    <a:pt x="119062" y="0"/>
                  </a:lnTo>
                  <a:cubicBezTo>
                    <a:pt x="129600" y="0"/>
                    <a:pt x="138113" y="8513"/>
                    <a:pt x="138113" y="19050"/>
                  </a:cubicBezTo>
                  <a:lnTo>
                    <a:pt x="138113" y="285750"/>
                  </a:lnTo>
                  <a:cubicBezTo>
                    <a:pt x="138113" y="296287"/>
                    <a:pt x="129600" y="304800"/>
                    <a:pt x="119062" y="304800"/>
                  </a:cubicBezTo>
                  <a:lnTo>
                    <a:pt x="100013" y="304800"/>
                  </a:lnTo>
                  <a:cubicBezTo>
                    <a:pt x="82272" y="304800"/>
                    <a:pt x="67330" y="292656"/>
                    <a:pt x="63103" y="276225"/>
                  </a:cubicBezTo>
                  <a:cubicBezTo>
                    <a:pt x="62686" y="276225"/>
                    <a:pt x="62329" y="276225"/>
                    <a:pt x="61912" y="276225"/>
                  </a:cubicBezTo>
                  <a:cubicBezTo>
                    <a:pt x="35600" y="276225"/>
                    <a:pt x="14288" y="254913"/>
                    <a:pt x="14288" y="228600"/>
                  </a:cubicBezTo>
                  <a:cubicBezTo>
                    <a:pt x="14288" y="217884"/>
                    <a:pt x="17859" y="208002"/>
                    <a:pt x="23813" y="200025"/>
                  </a:cubicBezTo>
                  <a:cubicBezTo>
                    <a:pt x="12263" y="191333"/>
                    <a:pt x="4763" y="177522"/>
                    <a:pt x="4763" y="161925"/>
                  </a:cubicBezTo>
                  <a:cubicBezTo>
                    <a:pt x="4763" y="143530"/>
                    <a:pt x="15240" y="127516"/>
                    <a:pt x="30480" y="119598"/>
                  </a:cubicBezTo>
                  <a:cubicBezTo>
                    <a:pt x="26253" y="112455"/>
                    <a:pt x="23813" y="104120"/>
                    <a:pt x="23813" y="95250"/>
                  </a:cubicBezTo>
                  <a:cubicBezTo>
                    <a:pt x="23813" y="68937"/>
                    <a:pt x="45125" y="47625"/>
                    <a:pt x="71438" y="47625"/>
                  </a:cubicBezTo>
                  <a:lnTo>
                    <a:pt x="71438" y="33338"/>
                  </a:lnTo>
                  <a:close/>
                  <a:moveTo>
                    <a:pt x="233363" y="33338"/>
                  </a:moveTo>
                  <a:lnTo>
                    <a:pt x="233363" y="47625"/>
                  </a:lnTo>
                  <a:cubicBezTo>
                    <a:pt x="259675" y="47625"/>
                    <a:pt x="280987" y="68937"/>
                    <a:pt x="280987" y="95250"/>
                  </a:cubicBezTo>
                  <a:cubicBezTo>
                    <a:pt x="280987" y="104180"/>
                    <a:pt x="278547" y="112514"/>
                    <a:pt x="274320" y="119598"/>
                  </a:cubicBezTo>
                  <a:cubicBezTo>
                    <a:pt x="289620" y="127516"/>
                    <a:pt x="300038" y="143470"/>
                    <a:pt x="300038" y="161925"/>
                  </a:cubicBezTo>
                  <a:cubicBezTo>
                    <a:pt x="300038" y="177522"/>
                    <a:pt x="292537" y="191333"/>
                    <a:pt x="280987" y="200025"/>
                  </a:cubicBezTo>
                  <a:cubicBezTo>
                    <a:pt x="286941" y="208002"/>
                    <a:pt x="290513" y="217884"/>
                    <a:pt x="290513" y="228600"/>
                  </a:cubicBezTo>
                  <a:cubicBezTo>
                    <a:pt x="290513" y="254913"/>
                    <a:pt x="269200" y="276225"/>
                    <a:pt x="242888" y="276225"/>
                  </a:cubicBezTo>
                  <a:cubicBezTo>
                    <a:pt x="242471" y="276225"/>
                    <a:pt x="242114" y="276225"/>
                    <a:pt x="241697" y="276225"/>
                  </a:cubicBezTo>
                  <a:cubicBezTo>
                    <a:pt x="237470" y="292656"/>
                    <a:pt x="222528" y="304800"/>
                    <a:pt x="204787" y="304800"/>
                  </a:cubicBezTo>
                  <a:lnTo>
                    <a:pt x="185738" y="304800"/>
                  </a:lnTo>
                  <a:cubicBezTo>
                    <a:pt x="175200" y="304800"/>
                    <a:pt x="166688" y="296287"/>
                    <a:pt x="166688" y="285750"/>
                  </a:cubicBezTo>
                  <a:lnTo>
                    <a:pt x="166688" y="19050"/>
                  </a:lnTo>
                  <a:cubicBezTo>
                    <a:pt x="166688" y="8513"/>
                    <a:pt x="175200" y="0"/>
                    <a:pt x="185738" y="0"/>
                  </a:cubicBezTo>
                  <a:lnTo>
                    <a:pt x="200025" y="0"/>
                  </a:lnTo>
                  <a:cubicBezTo>
                    <a:pt x="218420" y="0"/>
                    <a:pt x="233363" y="14942"/>
                    <a:pt x="233363" y="33338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454686" y="3505200"/>
              <a:ext cx="32893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训练层</a:t>
              </a: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454686" y="3810000"/>
              <a:ext cx="657778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MobileNetV3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结构</a:t>
              </a: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,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损失函数</a:t>
              </a: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,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半监督学习与伪标签生成</a:t>
              </a:r>
              <a:endPara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endParaRPr>
            </a:p>
          </p:txBody>
        </p:sp>
      </p:grpSp>
      <p:sp>
        <p:nvSpPr>
          <p:cNvPr id="16" name="Shape 13"/>
          <p:cNvSpPr/>
          <p:nvPr/>
        </p:nvSpPr>
        <p:spPr>
          <a:xfrm>
            <a:off x="540286" y="2381385"/>
            <a:ext cx="5555714" cy="863600"/>
          </a:xfrm>
          <a:custGeom>
            <a:avLst/>
            <a:gdLst/>
            <a:ahLst/>
            <a:cxnLst/>
            <a:rect l="l" t="t" r="r" b="b"/>
            <a:pathLst>
              <a:path w="7581900" h="863600">
                <a:moveTo>
                  <a:pt x="101603" y="0"/>
                </a:moveTo>
                <a:lnTo>
                  <a:pt x="7480297" y="0"/>
                </a:lnTo>
                <a:cubicBezTo>
                  <a:pt x="7536411" y="0"/>
                  <a:pt x="7581900" y="45489"/>
                  <a:pt x="7581900" y="101603"/>
                </a:cubicBezTo>
                <a:lnTo>
                  <a:pt x="7581900" y="761997"/>
                </a:lnTo>
                <a:cubicBezTo>
                  <a:pt x="7581900" y="818111"/>
                  <a:pt x="7536411" y="863600"/>
                  <a:pt x="74802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Shape 14"/>
          <p:cNvSpPr/>
          <p:nvPr/>
        </p:nvSpPr>
        <p:spPr>
          <a:xfrm>
            <a:off x="763631" y="26607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210321" y="2523304"/>
            <a:ext cx="208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评估层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00694" y="2838585"/>
            <a:ext cx="207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准确率, F1分数, 推理时延</a:t>
            </a:r>
            <a:endParaRPr lang="en-US" sz="16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D9FD9CA-F7B4-77D8-3988-D48F0727382E}"/>
              </a:ext>
            </a:extLst>
          </p:cNvPr>
          <p:cNvGrpSpPr/>
          <p:nvPr/>
        </p:nvGrpSpPr>
        <p:grpSpPr>
          <a:xfrm>
            <a:off x="540286" y="1371600"/>
            <a:ext cx="5555714" cy="863600"/>
            <a:chOff x="540286" y="5283200"/>
            <a:chExt cx="7581900" cy="863600"/>
          </a:xfrm>
        </p:grpSpPr>
        <p:sp>
          <p:nvSpPr>
            <p:cNvPr id="20" name="Shape 17"/>
            <p:cNvSpPr/>
            <p:nvPr/>
          </p:nvSpPr>
          <p:spPr>
            <a:xfrm>
              <a:off x="540286" y="52832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FFC107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830745" y="55626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288"/>
                    <a:pt x="68288" y="0"/>
                    <a:pt x="152400" y="0"/>
                  </a:cubicBezTo>
                  <a:cubicBezTo>
                    <a:pt x="236512" y="0"/>
                    <a:pt x="304800" y="68288"/>
                    <a:pt x="304800" y="152400"/>
                  </a:cubicBezTo>
                  <a:cubicBezTo>
                    <a:pt x="304800" y="236512"/>
                    <a:pt x="236512" y="304800"/>
                    <a:pt x="152400" y="304800"/>
                  </a:cubicBezTo>
                  <a:cubicBezTo>
                    <a:pt x="68288" y="304800"/>
                    <a:pt x="0" y="236512"/>
                    <a:pt x="0" y="152400"/>
                  </a:cubicBezTo>
                  <a:close/>
                  <a:moveTo>
                    <a:pt x="112097" y="87570"/>
                  </a:moveTo>
                  <a:cubicBezTo>
                    <a:pt x="107573" y="90071"/>
                    <a:pt x="104775" y="94893"/>
                    <a:pt x="104775" y="100013"/>
                  </a:cubicBezTo>
                  <a:lnTo>
                    <a:pt x="104775" y="204787"/>
                  </a:lnTo>
                  <a:cubicBezTo>
                    <a:pt x="104775" y="209967"/>
                    <a:pt x="107573" y="214729"/>
                    <a:pt x="112097" y="217230"/>
                  </a:cubicBezTo>
                  <a:cubicBezTo>
                    <a:pt x="116622" y="219730"/>
                    <a:pt x="122099" y="219670"/>
                    <a:pt x="126563" y="216932"/>
                  </a:cubicBezTo>
                  <a:lnTo>
                    <a:pt x="212288" y="164544"/>
                  </a:lnTo>
                  <a:cubicBezTo>
                    <a:pt x="216515" y="161925"/>
                    <a:pt x="219135" y="157341"/>
                    <a:pt x="219135" y="152340"/>
                  </a:cubicBezTo>
                  <a:cubicBezTo>
                    <a:pt x="219135" y="147340"/>
                    <a:pt x="216515" y="142756"/>
                    <a:pt x="212288" y="140137"/>
                  </a:cubicBezTo>
                  <a:lnTo>
                    <a:pt x="126563" y="87749"/>
                  </a:lnTo>
                  <a:cubicBezTo>
                    <a:pt x="122158" y="85070"/>
                    <a:pt x="116622" y="84951"/>
                    <a:pt x="112097" y="87451"/>
                  </a:cubicBezTo>
                  <a:close/>
                </a:path>
              </a:pathLst>
            </a:custGeom>
            <a:solidFill>
              <a:srgbClr val="FFC107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454686" y="5435600"/>
              <a:ext cx="3187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应用层</a:t>
              </a: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441547" y="5732908"/>
              <a:ext cx="5819266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400" dirty="0"/>
                <a:t>YuNet </a:t>
              </a:r>
              <a:r>
                <a:rPr lang="zh-CN" altLang="en-US" sz="1400" dirty="0"/>
                <a:t>与 </a:t>
              </a:r>
              <a:r>
                <a:rPr lang="en-US" altLang="zh-CN" sz="1400" dirty="0"/>
                <a:t>CNN </a:t>
              </a:r>
              <a:r>
                <a:rPr lang="zh-CN" altLang="en-US" sz="1400" dirty="0"/>
                <a:t>集成</a:t>
              </a:r>
              <a:r>
                <a:rPr lang="en-US" altLang="zh-CN" sz="1400" dirty="0"/>
                <a:t>, PC&amp;</a:t>
              </a:r>
              <a:r>
                <a:rPr lang="zh-CN" altLang="en-US" sz="1400" dirty="0"/>
                <a:t>树莓派双端实时推理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设计思路</a:t>
            </a:r>
            <a:r>
              <a:rPr lang="zh-CN" alt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485900" y="165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84118"/>
                </a:moveTo>
                <a:lnTo>
                  <a:pt x="152400" y="268248"/>
                </a:lnTo>
                <a:lnTo>
                  <a:pt x="152698" y="268129"/>
                </a:lnTo>
                <a:cubicBezTo>
                  <a:pt x="185202" y="254615"/>
                  <a:pt x="220087" y="247650"/>
                  <a:pt x="255270" y="247650"/>
                </a:cubicBezTo>
                <a:lnTo>
                  <a:pt x="266700" y="247650"/>
                </a:lnTo>
                <a:lnTo>
                  <a:pt x="266700" y="57150"/>
                </a:lnTo>
                <a:lnTo>
                  <a:pt x="255270" y="57150"/>
                </a:lnTo>
                <a:cubicBezTo>
                  <a:pt x="230148" y="57150"/>
                  <a:pt x="205204" y="62151"/>
                  <a:pt x="181987" y="71795"/>
                </a:cubicBezTo>
                <a:cubicBezTo>
                  <a:pt x="171986" y="75962"/>
                  <a:pt x="162104" y="80070"/>
                  <a:pt x="152400" y="84118"/>
                </a:cubicBezTo>
                <a:close/>
                <a:moveTo>
                  <a:pt x="137458" y="36612"/>
                </a:moveTo>
                <a:lnTo>
                  <a:pt x="152400" y="42863"/>
                </a:lnTo>
                <a:lnTo>
                  <a:pt x="167342" y="36612"/>
                </a:lnTo>
                <a:cubicBezTo>
                  <a:pt x="195203" y="25003"/>
                  <a:pt x="225088" y="19050"/>
                  <a:pt x="255270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2001" y="285750"/>
                  <a:pt x="276225" y="285750"/>
                </a:cubicBezTo>
                <a:lnTo>
                  <a:pt x="255270" y="285750"/>
                </a:lnTo>
                <a:cubicBezTo>
                  <a:pt x="225088" y="285750"/>
                  <a:pt x="195203" y="291703"/>
                  <a:pt x="167342" y="303312"/>
                </a:cubicBezTo>
                <a:lnTo>
                  <a:pt x="159722" y="306467"/>
                </a:lnTo>
                <a:cubicBezTo>
                  <a:pt x="155019" y="308431"/>
                  <a:pt x="149781" y="308431"/>
                  <a:pt x="145078" y="306467"/>
                </a:cubicBezTo>
                <a:lnTo>
                  <a:pt x="137458" y="303312"/>
                </a:lnTo>
                <a:cubicBezTo>
                  <a:pt x="109597" y="291703"/>
                  <a:pt x="79712" y="285750"/>
                  <a:pt x="49530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47625"/>
                </a:lnTo>
                <a:cubicBezTo>
                  <a:pt x="0" y="31849"/>
                  <a:pt x="12799" y="19050"/>
                  <a:pt x="28575" y="19050"/>
                </a:cubicBezTo>
                <a:lnTo>
                  <a:pt x="49530" y="19050"/>
                </a:lnTo>
                <a:cubicBezTo>
                  <a:pt x="79712" y="19050"/>
                  <a:pt x="109597" y="25003"/>
                  <a:pt x="137458" y="36612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064284" y="2040147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需求分析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400" y="2403894"/>
            <a:ext cx="144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查阅文献，明确目标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25800" y="10160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476750" y="1651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997325" y="2032000"/>
            <a:ext cx="122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环境搭建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38600" y="241300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准备数据与环境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7600" y="1016000"/>
            <a:ext cx="5740400" cy="2133600"/>
          </a:xfrm>
          <a:custGeom>
            <a:avLst/>
            <a:gdLst/>
            <a:ahLst/>
            <a:cxnLst/>
            <a:rect l="l" t="t" r="r" b="b"/>
            <a:pathLst>
              <a:path w="5740400" h="21336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2031998"/>
                </a:lnTo>
                <a:cubicBezTo>
                  <a:pt x="5740400" y="2088111"/>
                  <a:pt x="5694911" y="2133600"/>
                  <a:pt x="56387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350000" y="1930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934200" y="18288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构建与训练CNN模型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46900" y="2184561"/>
            <a:ext cx="246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基于MobileNetV3，</a:t>
            </a: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输出最佳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模型</a:t>
            </a:r>
            <a:endParaRPr lang="en-US" sz="1200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54000" y="3454400"/>
            <a:ext cx="5740400" cy="2133600"/>
          </a:xfrm>
          <a:custGeom>
            <a:avLst/>
            <a:gdLst/>
            <a:ahLst/>
            <a:cxnLst/>
            <a:rect l="l" t="t" r="r" b="b"/>
            <a:pathLst>
              <a:path w="5740400" h="21336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2031998"/>
                </a:lnTo>
                <a:cubicBezTo>
                  <a:pt x="5740400" y="2088111"/>
                  <a:pt x="5694911" y="2133600"/>
                  <a:pt x="56387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445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90599" y="4267361"/>
            <a:ext cx="235644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集成YuNet人脸检测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70951" y="4550117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实现人脸检测与对齐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7600" y="34544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7429500" y="40895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714177" y="4470561"/>
            <a:ext cx="17354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PC端系统实现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010400" y="4785586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验证端到端功能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194800" y="3483317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0401300" y="40895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850466" y="4474716"/>
            <a:ext cx="1406465" cy="22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树莓派部署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9982199" y="4790377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模型压缩与优化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54000" y="5791361"/>
            <a:ext cx="11684000" cy="812800"/>
          </a:xfrm>
          <a:custGeom>
            <a:avLst/>
            <a:gdLst/>
            <a:ahLst/>
            <a:cxnLst/>
            <a:rect l="l" t="t" r="r" b="b"/>
            <a:pathLst>
              <a:path w="11684000" h="8128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711200"/>
                </a:lnTo>
                <a:cubicBezTo>
                  <a:pt x="11684000" y="767275"/>
                  <a:pt x="11638475" y="812800"/>
                  <a:pt x="11582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4852194" y="6045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5334794" y="5969161"/>
            <a:ext cx="29666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 </a:t>
            </a:r>
            <a:r>
              <a:rPr lang="en-US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测试分析与</a:t>
            </a:r>
            <a:r>
              <a:rPr lang="zh-CN" alt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毕业设计</a:t>
            </a:r>
            <a:r>
              <a:rPr lang="en-US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撰写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60194" y="6299522"/>
            <a:ext cx="213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输出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演示</a:t>
            </a: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demo 与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毕业设计</a:t>
            </a:r>
            <a:endParaRPr lang="en-US" sz="1200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研究进度与预期结果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研究进度与预期结果</a:t>
            </a:r>
            <a:endParaRPr lang="en-US" sz="1600" dirty="0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E7C787C-FC26-1D33-C614-B4E0466A8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702711"/>
              </p:ext>
            </p:extLst>
          </p:nvPr>
        </p:nvGraphicFramePr>
        <p:xfrm>
          <a:off x="158751" y="851518"/>
          <a:ext cx="11874499" cy="57426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1445">
                  <a:extLst>
                    <a:ext uri="{9D8B030D-6E8A-4147-A177-3AD203B41FA5}">
                      <a16:colId xmlns:a16="http://schemas.microsoft.com/office/drawing/2014/main" val="3251456621"/>
                    </a:ext>
                  </a:extLst>
                </a:gridCol>
                <a:gridCol w="4676527">
                  <a:extLst>
                    <a:ext uri="{9D8B030D-6E8A-4147-A177-3AD203B41FA5}">
                      <a16:colId xmlns:a16="http://schemas.microsoft.com/office/drawing/2014/main" val="2272835356"/>
                    </a:ext>
                  </a:extLst>
                </a:gridCol>
                <a:gridCol w="4676527">
                  <a:extLst>
                    <a:ext uri="{9D8B030D-6E8A-4147-A177-3AD203B41FA5}">
                      <a16:colId xmlns:a16="http://schemas.microsoft.com/office/drawing/2014/main" val="2149349873"/>
                    </a:ext>
                  </a:extLst>
                </a:gridCol>
              </a:tblGrid>
              <a:tr h="671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>
                          <a:effectLst/>
                        </a:rPr>
                        <a:t>起止日期</a:t>
                      </a:r>
                      <a:endParaRPr lang="zh-CN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 dirty="0">
                          <a:effectLst/>
                        </a:rPr>
                        <a:t>主要内容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>
                          <a:effectLst/>
                        </a:rPr>
                        <a:t>预期结果</a:t>
                      </a:r>
                      <a:endParaRPr lang="zh-CN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873172"/>
                  </a:ext>
                </a:extLst>
              </a:tr>
              <a:tr h="8548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2025.11.03–2025.11.17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查阅相关文献，了解表情识别及轻量级人脸检测发展现状；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完成课题需求分析与总体方案设计；撰写并提交开题报告。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明确课题研究目标与技术路线，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完成开题报告与开题答辩准备。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6088914"/>
                  </a:ext>
                </a:extLst>
              </a:tr>
              <a:tr h="102140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2025.11.18–2025.12.31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搭建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PyTorch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OpenCV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开发环境；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学习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MobileNetV3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YuNet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原理和实现方法；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整理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FER2013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数据集并完成预处理与增强策略设计。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掌握主要算法与工具使用方法，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完成实验环境搭建与数据集准备工作。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6783969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2026.01.01–2026.03.01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搭建并训练基于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MobileNetV3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的表情识别模型；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调参和对比不同模型结构，初步完成模型性能评估。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得到性能较为稳定的表情识别模型，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形成阶段性实验结果。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09865179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2026.03.02–2026.04.10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集成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YuNet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人脸检测与关键点定位模块；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端实时表情识别系统开发，实现摄像头实时检测与识别功能。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端端到端系统，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实现基本功能并具备实时识别能力。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0505353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2026.04.11–2026.05.15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将系统迁移至树莓派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平台，进行模型部署与性能优化；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对系统进行全面测试与结果分析；撰写毕业设计初稿。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完成嵌入式部署与性能测试，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形成较完整的实验数据与初稿。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6087868"/>
                  </a:ext>
                </a:extLst>
              </a:tr>
              <a:tr h="58430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2026.05.16–2026.06.01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整理源代码、图表与演示视频；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准备毕业设计答辩。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完成毕业设计定稿与系统演示，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顺利通过毕业答辩。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0188263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参考文献</a:t>
            </a: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A24CAAD-264E-06F3-D7F5-4A108E037AA2}"/>
              </a:ext>
            </a:extLst>
          </p:cNvPr>
          <p:cNvSpPr txBox="1"/>
          <p:nvPr/>
        </p:nvSpPr>
        <p:spPr>
          <a:xfrm>
            <a:off x="254000" y="1028343"/>
            <a:ext cx="11734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zh-CN" dirty="0"/>
              <a:t>李宏毅</a:t>
            </a:r>
            <a:r>
              <a:rPr lang="en-US" altLang="zh-CN" dirty="0"/>
              <a:t>. </a:t>
            </a:r>
            <a:r>
              <a:rPr lang="zh-CN" altLang="zh-CN" dirty="0"/>
              <a:t>深度学习导论</a:t>
            </a:r>
            <a:r>
              <a:rPr lang="en-US" altLang="zh-CN" dirty="0"/>
              <a:t>[M]. </a:t>
            </a:r>
            <a:r>
              <a:rPr lang="zh-CN" altLang="zh-CN" dirty="0"/>
              <a:t>北京</a:t>
            </a:r>
            <a:r>
              <a:rPr lang="en-US" altLang="zh-CN" dirty="0"/>
              <a:t>: </a:t>
            </a:r>
            <a:r>
              <a:rPr lang="zh-CN" altLang="zh-CN" dirty="0"/>
              <a:t>机械工业出版社</a:t>
            </a:r>
            <a:r>
              <a:rPr lang="en-US" altLang="zh-CN" dirty="0"/>
              <a:t>, 2022.</a:t>
            </a:r>
            <a:endParaRPr lang="zh-CN" altLang="zh-CN" dirty="0"/>
          </a:p>
          <a:p>
            <a:r>
              <a:rPr lang="en-US" altLang="zh-CN" dirty="0"/>
              <a:t>[2] </a:t>
            </a:r>
            <a:r>
              <a:rPr lang="zh-CN" altLang="zh-CN" dirty="0"/>
              <a:t>刘洋</a:t>
            </a:r>
            <a:r>
              <a:rPr lang="en-US" altLang="zh-CN" dirty="0"/>
              <a:t>. </a:t>
            </a:r>
            <a:r>
              <a:rPr lang="zh-CN" altLang="zh-CN" dirty="0"/>
              <a:t>基于轻量级网络的人脸表情识别研究</a:t>
            </a:r>
            <a:r>
              <a:rPr lang="en-US" altLang="zh-CN" dirty="0"/>
              <a:t>[D]. </a:t>
            </a:r>
            <a:r>
              <a:rPr lang="zh-CN" altLang="zh-CN" dirty="0"/>
              <a:t>哈尔滨工业大学</a:t>
            </a:r>
            <a:r>
              <a:rPr lang="en-US" altLang="zh-CN" dirty="0"/>
              <a:t>, 2023.</a:t>
            </a:r>
            <a:endParaRPr lang="zh-CN" altLang="zh-CN" dirty="0"/>
          </a:p>
          <a:p>
            <a:r>
              <a:rPr lang="en-US" altLang="zh-CN" dirty="0"/>
              <a:t>[3] </a:t>
            </a:r>
            <a:r>
              <a:rPr lang="zh-CN" altLang="zh-CN" dirty="0"/>
              <a:t>孙培源</a:t>
            </a:r>
            <a:r>
              <a:rPr lang="en-US" altLang="zh-CN" dirty="0"/>
              <a:t>. </a:t>
            </a:r>
            <a:r>
              <a:rPr lang="zh-CN" altLang="zh-CN" dirty="0"/>
              <a:t>轻量级人脸表情识别神经网络研究</a:t>
            </a:r>
            <a:r>
              <a:rPr lang="en-US" altLang="zh-CN" dirty="0"/>
              <a:t>[D]. </a:t>
            </a:r>
            <a:r>
              <a:rPr lang="zh-CN" altLang="zh-CN" dirty="0"/>
              <a:t>南京信息工程大学</a:t>
            </a:r>
            <a:r>
              <a:rPr lang="en-US" altLang="zh-CN" dirty="0"/>
              <a:t>, 2025.</a:t>
            </a:r>
            <a:endParaRPr lang="zh-CN" altLang="zh-CN" dirty="0"/>
          </a:p>
          <a:p>
            <a:r>
              <a:rPr lang="en-US" altLang="zh-CN" dirty="0"/>
              <a:t>[4] </a:t>
            </a:r>
            <a:r>
              <a:rPr lang="zh-CN" altLang="zh-CN" dirty="0"/>
              <a:t>胡敏</a:t>
            </a:r>
            <a:r>
              <a:rPr lang="en-US" altLang="zh-CN" dirty="0"/>
              <a:t>, </a:t>
            </a:r>
            <a:r>
              <a:rPr lang="zh-CN" altLang="zh-CN" dirty="0"/>
              <a:t>胡鹏远</a:t>
            </a:r>
            <a:r>
              <a:rPr lang="en-US" altLang="zh-CN" dirty="0"/>
              <a:t>, </a:t>
            </a:r>
            <a:r>
              <a:rPr lang="zh-CN" altLang="zh-CN" dirty="0"/>
              <a:t>等</a:t>
            </a:r>
            <a:r>
              <a:rPr lang="en-US" altLang="zh-CN" dirty="0"/>
              <a:t>. </a:t>
            </a:r>
            <a:r>
              <a:rPr lang="zh-CN" altLang="zh-CN" dirty="0"/>
              <a:t>基于面部运动单元和时序注意力的视频表情识别方法</a:t>
            </a:r>
            <a:r>
              <a:rPr lang="en-US" altLang="zh-CN" dirty="0"/>
              <a:t>[J]. </a:t>
            </a:r>
            <a:r>
              <a:rPr lang="zh-CN" altLang="zh-CN" dirty="0"/>
              <a:t>计算机辅助设计与图形学学报</a:t>
            </a:r>
            <a:r>
              <a:rPr lang="en-US" altLang="zh-CN" dirty="0"/>
              <a:t>, 2023, 35(1):108-117.</a:t>
            </a:r>
            <a:endParaRPr lang="zh-CN" altLang="zh-CN" dirty="0"/>
          </a:p>
          <a:p>
            <a:r>
              <a:rPr lang="en-US" altLang="zh-CN" dirty="0"/>
              <a:t>[5] Andrew Howard, Mark Sandler, et al. Searching for MobileNetV3[C] // Proceedings of the IEEE/CVF International Conference on Computer Vision (ICCV). 2019:1314-1324.</a:t>
            </a:r>
            <a:endParaRPr lang="zh-CN" altLang="zh-CN" dirty="0"/>
          </a:p>
          <a:p>
            <a:r>
              <a:rPr lang="en-US" altLang="zh-CN" dirty="0"/>
              <a:t>[6] </a:t>
            </a:r>
            <a:r>
              <a:rPr lang="zh-CN" altLang="zh-CN" dirty="0"/>
              <a:t>李军</a:t>
            </a:r>
            <a:r>
              <a:rPr lang="en-US" altLang="zh-CN" dirty="0"/>
              <a:t>, </a:t>
            </a:r>
            <a:r>
              <a:rPr lang="zh-CN" altLang="zh-CN" dirty="0"/>
              <a:t>李明</a:t>
            </a:r>
            <a:r>
              <a:rPr lang="en-US" altLang="zh-CN" dirty="0"/>
              <a:t>. </a:t>
            </a:r>
            <a:r>
              <a:rPr lang="zh-CN" altLang="zh-CN" dirty="0"/>
              <a:t>改进多尺度卷积神经网络的人脸表情识别研究</a:t>
            </a:r>
            <a:r>
              <a:rPr lang="en-US" altLang="zh-CN" dirty="0"/>
              <a:t>[J]. </a:t>
            </a:r>
            <a:r>
              <a:rPr lang="zh-CN" altLang="zh-CN" dirty="0"/>
              <a:t>重庆邮电大学学报</a:t>
            </a:r>
            <a:r>
              <a:rPr lang="en-US" altLang="zh-CN" dirty="0"/>
              <a:t>(</a:t>
            </a:r>
            <a:r>
              <a:rPr lang="zh-CN" altLang="zh-CN" dirty="0"/>
              <a:t>自然科学版</a:t>
            </a:r>
            <a:r>
              <a:rPr lang="en-US" altLang="zh-CN" dirty="0"/>
              <a:t>), 2022, 34(02):201-207.</a:t>
            </a:r>
            <a:endParaRPr lang="zh-CN" altLang="zh-CN" dirty="0"/>
          </a:p>
          <a:p>
            <a:r>
              <a:rPr lang="en-US" altLang="zh-CN" dirty="0"/>
              <a:t>[7] </a:t>
            </a:r>
            <a:r>
              <a:rPr lang="zh-CN" altLang="zh-CN" dirty="0"/>
              <a:t>刘劲</a:t>
            </a:r>
            <a:r>
              <a:rPr lang="en-US" altLang="zh-CN" dirty="0"/>
              <a:t>, </a:t>
            </a:r>
            <a:r>
              <a:rPr lang="zh-CN" altLang="zh-CN" dirty="0"/>
              <a:t>罗晓曙</a:t>
            </a:r>
            <a:r>
              <a:rPr lang="en-US" altLang="zh-CN" dirty="0"/>
              <a:t>, </a:t>
            </a:r>
            <a:r>
              <a:rPr lang="zh-CN" altLang="zh-CN" dirty="0"/>
              <a:t>等</a:t>
            </a:r>
            <a:r>
              <a:rPr lang="en-US" altLang="zh-CN" dirty="0"/>
              <a:t>. </a:t>
            </a:r>
            <a:r>
              <a:rPr lang="zh-CN" altLang="zh-CN" dirty="0"/>
              <a:t>权重推断与标签平滑的轻量级人脸表情识别</a:t>
            </a:r>
            <a:r>
              <a:rPr lang="en-US" altLang="zh-CN" dirty="0"/>
              <a:t>[J]. </a:t>
            </a:r>
            <a:r>
              <a:rPr lang="zh-CN" altLang="zh-CN" dirty="0"/>
              <a:t>计算机工程与应用</a:t>
            </a:r>
            <a:r>
              <a:rPr lang="en-US" altLang="zh-CN" dirty="0"/>
              <a:t>, 2024, 60(2).</a:t>
            </a:r>
            <a:endParaRPr lang="zh-CN" altLang="zh-CN" dirty="0"/>
          </a:p>
          <a:p>
            <a:r>
              <a:rPr lang="en-US" altLang="zh-CN" dirty="0"/>
              <a:t>[8] </a:t>
            </a:r>
            <a:r>
              <a:rPr lang="en-US" altLang="zh-CN" dirty="0" err="1"/>
              <a:t>Jiankang</a:t>
            </a:r>
            <a:r>
              <a:rPr lang="en-US" altLang="zh-CN" dirty="0"/>
              <a:t> Deng, Jia Guo, et al. </a:t>
            </a:r>
            <a:r>
              <a:rPr lang="en-US" altLang="zh-CN" dirty="0" err="1"/>
              <a:t>ArcFace</a:t>
            </a:r>
            <a:r>
              <a:rPr lang="en-US" altLang="zh-CN" dirty="0"/>
              <a:t>: Additive Angular Margin Loss for Deep Face Recognition[C] // Proceedings of CVPR. 2019:4690-4699.</a:t>
            </a:r>
            <a:endParaRPr lang="zh-CN" altLang="zh-CN" dirty="0"/>
          </a:p>
          <a:p>
            <a:r>
              <a:rPr lang="en-US" altLang="zh-CN" dirty="0"/>
              <a:t>[9] Wei Wu, Hanyang Peng, et al. YuNet: A Tiny </a:t>
            </a:r>
            <a:r>
              <a:rPr lang="en-US" altLang="zh-CN" dirty="0" err="1"/>
              <a:t>MillisecondLevel</a:t>
            </a:r>
            <a:r>
              <a:rPr lang="en-US" altLang="zh-CN" dirty="0"/>
              <a:t> Face Detector[J]. Machine Intelligence Research, 2023, 20(5):656-665.</a:t>
            </a:r>
            <a:endParaRPr lang="zh-CN" altLang="zh-CN" dirty="0"/>
          </a:p>
          <a:p>
            <a:r>
              <a:rPr lang="en-US" altLang="zh-CN" dirty="0"/>
              <a:t>[10] Goodfellow I, Bengio Y, et al. Deep Learning[M]. MIT Press, 2016.  </a:t>
            </a:r>
            <a:endParaRPr lang="zh-CN" altLang="zh-CN" dirty="0"/>
          </a:p>
          <a:p>
            <a:r>
              <a:rPr lang="en-US" altLang="zh-CN" dirty="0"/>
              <a:t>[11] Zhang K, Zhang Z, Li Z, et al. Joint Face Detection and Alignment Using Multitask Cascaded Convolutional Networks[J]. IEEE Signal Processing Letters, 2016.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/>
          <a:srcRect t="104" b="104"/>
          <a:stretch/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张吉鹏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汇报日期：2025/11/27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1283</Words>
  <Application>Microsoft Office PowerPoint</Application>
  <PresentationFormat>宽屏</PresentationFormat>
  <Paragraphs>141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MiSans</vt:lpstr>
      <vt:lpstr>Noto Sans SC</vt:lpstr>
      <vt:lpstr>宋体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CNN+YuNet实时表情识别方案</dc:title>
  <dc:subject>CNN+YuNet实时表情识别方案</dc:subject>
  <dc:creator>柒墨染</dc:creator>
  <cp:lastModifiedBy>墨 柒</cp:lastModifiedBy>
  <cp:revision>16</cp:revision>
  <dcterms:created xsi:type="dcterms:W3CDTF">2025-11-19T10:38:12Z</dcterms:created>
  <dcterms:modified xsi:type="dcterms:W3CDTF">2025-11-26T08:26:11Z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{"Label":"CNN+YuNet实时表情识别方案","ContentProducer":"001191110108MACG2KBH8F10000","ProduceID":"d4en3788obdamgc3n48g","ReservedCode1":"","ContentPropagator":"001191110108MACG2KBH8F20000","PropagateID":"d4en3788obdamgc3n48g","ReservedCode2":""}</vt:lpwstr>
  </property>
</Properties>
</file>